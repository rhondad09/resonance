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914400" y="2011680"/>
            <a:ext cx="2286000" cy="38100"/>
          </a:xfrm>
          <a:prstGeom prst="rect">
            <a:avLst/>
          </a:prstGeom>
          <a:solidFill>
            <a:srgbClr val="9B8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10058400" cy="1097280"/>
          </a:xfrm>
          <a:prstGeom prst="rect">
            <a:avLst/>
          </a:prstGeom>
          <a:noFill/>
        </p:spPr>
        <p:txBody>
          <a:bodyPr wrap="square">
            <a:spAutoFit/>
          </a:bodyPr>
          <a:lstStyle/>
          <a:p>
            <a:pPr algn="l">
              <a:defRPr sz="5400" b="1">
                <a:solidFill>
                  <a:srgbClr val="9B8BC4"/>
                </a:solidFill>
                <a:latin typeface="Helvetica Neue"/>
              </a:defRPr>
            </a:pPr>
            <a:r>
              <a:t>Resonance</a:t>
            </a:r>
          </a:p>
        </p:txBody>
      </p:sp>
      <p:sp>
        <p:nvSpPr>
          <p:cNvPr id="4" name="TextBox 3"/>
          <p:cNvSpPr txBox="1"/>
          <p:nvPr/>
        </p:nvSpPr>
        <p:spPr>
          <a:xfrm>
            <a:off x="914400" y="3200400"/>
            <a:ext cx="10058400" cy="731520"/>
          </a:xfrm>
          <a:prstGeom prst="rect">
            <a:avLst/>
          </a:prstGeom>
          <a:noFill/>
        </p:spPr>
        <p:txBody>
          <a:bodyPr wrap="square">
            <a:spAutoFit/>
          </a:bodyPr>
          <a:lstStyle/>
          <a:p>
            <a:pPr algn="l">
              <a:defRPr sz="2800" b="0">
                <a:solidFill>
                  <a:srgbClr val="7EB5A6"/>
                </a:solidFill>
                <a:latin typeface="Helvetica Neue"/>
              </a:defRPr>
            </a:pPr>
            <a:r>
              <a:t>A Sound-Based Wellness App</a:t>
            </a:r>
          </a:p>
        </p:txBody>
      </p:sp>
      <p:sp>
        <p:nvSpPr>
          <p:cNvPr id="5" name="TextBox 4"/>
          <p:cNvSpPr txBox="1"/>
          <p:nvPr/>
        </p:nvSpPr>
        <p:spPr>
          <a:xfrm>
            <a:off x="914400" y="4023360"/>
            <a:ext cx="10058400" cy="548640"/>
          </a:xfrm>
          <a:prstGeom prst="rect">
            <a:avLst/>
          </a:prstGeom>
          <a:noFill/>
        </p:spPr>
        <p:txBody>
          <a:bodyPr wrap="square">
            <a:spAutoFit/>
          </a:bodyPr>
          <a:lstStyle/>
          <a:p>
            <a:pPr algn="l">
              <a:defRPr sz="2000" b="0">
                <a:solidFill>
                  <a:srgbClr val="6B666A"/>
                </a:solidFill>
                <a:latin typeface="Helvetica Neue"/>
              </a:defRPr>
            </a:pPr>
            <a:r>
              <a:t>Business &amp; Strategic Plan</a:t>
            </a:r>
          </a:p>
        </p:txBody>
      </p:sp>
      <p:sp>
        <p:nvSpPr>
          <p:cNvPr id="6" name="TextBox 5"/>
          <p:cNvSpPr txBox="1"/>
          <p:nvPr/>
        </p:nvSpPr>
        <p:spPr>
          <a:xfrm>
            <a:off x="914400" y="5120640"/>
            <a:ext cx="10058400" cy="457200"/>
          </a:xfrm>
          <a:prstGeom prst="rect">
            <a:avLst/>
          </a:prstGeom>
          <a:noFill/>
        </p:spPr>
        <p:txBody>
          <a:bodyPr wrap="square">
            <a:spAutoFit/>
          </a:bodyPr>
          <a:lstStyle/>
          <a:p>
            <a:pPr algn="l">
              <a:defRPr sz="1600" b="0">
                <a:solidFill>
                  <a:srgbClr val="6B666A"/>
                </a:solidFill>
                <a:latin typeface="Helvetica Neue"/>
              </a:defRPr>
            </a:pPr>
            <a:r>
              <a:t>Presented by Rhonda Davis  •  Apple Developer Academy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914400" y="731520"/>
            <a:ext cx="1828800" cy="38100"/>
          </a:xfrm>
          <a:prstGeom prst="rect">
            <a:avLst/>
          </a:prstGeom>
          <a:solidFill>
            <a:srgbClr val="7E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058400" cy="640080"/>
          </a:xfrm>
          <a:prstGeom prst="rect">
            <a:avLst/>
          </a:prstGeom>
          <a:noFill/>
        </p:spPr>
        <p:txBody>
          <a:bodyPr wrap="square">
            <a:spAutoFit/>
          </a:bodyPr>
          <a:lstStyle/>
          <a:p>
            <a:pPr algn="l">
              <a:defRPr sz="3600" b="1">
                <a:solidFill>
                  <a:srgbClr val="3A363B"/>
                </a:solidFill>
                <a:latin typeface="Helvetica Neue"/>
              </a:defRPr>
            </a:pPr>
            <a:r>
              <a:t>Executive Summary</a:t>
            </a:r>
          </a:p>
        </p:txBody>
      </p:sp>
      <p:sp>
        <p:nvSpPr>
          <p:cNvPr id="4" name="TextBox 3"/>
          <p:cNvSpPr txBox="1"/>
          <p:nvPr/>
        </p:nvSpPr>
        <p:spPr>
          <a:xfrm>
            <a:off x="914400" y="1828800"/>
            <a:ext cx="9601200" cy="914400"/>
          </a:xfrm>
          <a:prstGeom prst="rect">
            <a:avLst/>
          </a:prstGeom>
          <a:noFill/>
        </p:spPr>
        <p:txBody>
          <a:bodyPr wrap="square">
            <a:spAutoFit/>
          </a:bodyPr>
          <a:lstStyle/>
          <a:p>
            <a:pPr algn="l">
              <a:defRPr sz="1700" b="0">
                <a:solidFill>
                  <a:srgbClr val="6B666A"/>
                </a:solidFill>
                <a:latin typeface="Helvetica Neue"/>
              </a:defRPr>
            </a:pPr>
            <a:r>
              <a:t>Resonance is a mobile wellness app that uses interactive, real-time sound as its primary therapeutic interface. Unlike conventional wellness apps that rely on journaling, tracking, or social features, Resonance puts users in direct relationship with music and sound to regulate their emotional and physiological state.</a:t>
            </a:r>
          </a:p>
        </p:txBody>
      </p:sp>
      <p:sp>
        <p:nvSpPr>
          <p:cNvPr id="5" name="Rounded Rectangle 4"/>
          <p:cNvSpPr/>
          <p:nvPr/>
        </p:nvSpPr>
        <p:spPr>
          <a:xfrm>
            <a:off x="914400" y="3200400"/>
            <a:ext cx="3017520" cy="2560320"/>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3383280"/>
            <a:ext cx="2560320" cy="365760"/>
          </a:xfrm>
          <a:prstGeom prst="rect">
            <a:avLst/>
          </a:prstGeom>
          <a:noFill/>
        </p:spPr>
        <p:txBody>
          <a:bodyPr wrap="square">
            <a:spAutoFit/>
          </a:bodyPr>
          <a:lstStyle/>
          <a:p>
            <a:pPr algn="l">
              <a:defRPr sz="1400" b="1">
                <a:solidFill>
                  <a:srgbClr val="7EB5A6"/>
                </a:solidFill>
                <a:latin typeface="Helvetica Neue"/>
              </a:defRPr>
            </a:pPr>
            <a:r>
              <a:t>Mission</a:t>
            </a:r>
          </a:p>
        </p:txBody>
      </p:sp>
      <p:sp>
        <p:nvSpPr>
          <p:cNvPr id="7" name="TextBox 6"/>
          <p:cNvSpPr txBox="1"/>
          <p:nvPr/>
        </p:nvSpPr>
        <p:spPr>
          <a:xfrm>
            <a:off x="1188720" y="3749039"/>
            <a:ext cx="2560320" cy="1645920"/>
          </a:xfrm>
          <a:prstGeom prst="rect">
            <a:avLst/>
          </a:prstGeom>
          <a:noFill/>
        </p:spPr>
        <p:txBody>
          <a:bodyPr wrap="square">
            <a:spAutoFit/>
          </a:bodyPr>
          <a:lstStyle/>
          <a:p>
            <a:pPr algn="l">
              <a:defRPr sz="1600" b="0">
                <a:solidFill>
                  <a:srgbClr val="6B666A"/>
                </a:solidFill>
                <a:latin typeface="Helvetica Neue"/>
              </a:defRPr>
            </a:pPr>
            <a:r>
              <a:t>Make emotional regulation accessible through the universal language of sound.</a:t>
            </a:r>
          </a:p>
        </p:txBody>
      </p:sp>
      <p:sp>
        <p:nvSpPr>
          <p:cNvPr id="8" name="Rounded Rectangle 7"/>
          <p:cNvSpPr/>
          <p:nvPr/>
        </p:nvSpPr>
        <p:spPr>
          <a:xfrm>
            <a:off x="4206240" y="3200400"/>
            <a:ext cx="3017520" cy="2560320"/>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60" y="3383280"/>
            <a:ext cx="2560320" cy="365760"/>
          </a:xfrm>
          <a:prstGeom prst="rect">
            <a:avLst/>
          </a:prstGeom>
          <a:noFill/>
        </p:spPr>
        <p:txBody>
          <a:bodyPr wrap="square">
            <a:spAutoFit/>
          </a:bodyPr>
          <a:lstStyle/>
          <a:p>
            <a:pPr algn="l">
              <a:defRPr sz="1400" b="1">
                <a:solidFill>
                  <a:srgbClr val="9B8BC4"/>
                </a:solidFill>
                <a:latin typeface="Helvetica Neue"/>
              </a:defRPr>
            </a:pPr>
            <a:r>
              <a:t>Vision</a:t>
            </a:r>
          </a:p>
        </p:txBody>
      </p:sp>
      <p:sp>
        <p:nvSpPr>
          <p:cNvPr id="10" name="TextBox 9"/>
          <p:cNvSpPr txBox="1"/>
          <p:nvPr/>
        </p:nvSpPr>
        <p:spPr>
          <a:xfrm>
            <a:off x="4480560" y="3749039"/>
            <a:ext cx="2560320" cy="1645920"/>
          </a:xfrm>
          <a:prstGeom prst="rect">
            <a:avLst/>
          </a:prstGeom>
          <a:noFill/>
        </p:spPr>
        <p:txBody>
          <a:bodyPr wrap="square">
            <a:spAutoFit/>
          </a:bodyPr>
          <a:lstStyle/>
          <a:p>
            <a:pPr algn="l">
              <a:defRPr sz="1600" b="0">
                <a:solidFill>
                  <a:srgbClr val="6B666A"/>
                </a:solidFill>
                <a:latin typeface="Helvetica Neue"/>
              </a:defRPr>
            </a:pPr>
            <a:r>
              <a:t>A world where everyone has an intuitive, non-verbal tool for wellness — as natural as pressing play.</a:t>
            </a:r>
          </a:p>
        </p:txBody>
      </p:sp>
      <p:sp>
        <p:nvSpPr>
          <p:cNvPr id="11" name="Rounded Rectangle 10"/>
          <p:cNvSpPr/>
          <p:nvPr/>
        </p:nvSpPr>
        <p:spPr>
          <a:xfrm>
            <a:off x="7498079" y="3200400"/>
            <a:ext cx="3017520" cy="2560320"/>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0" y="3383280"/>
            <a:ext cx="2560320" cy="365760"/>
          </a:xfrm>
          <a:prstGeom prst="rect">
            <a:avLst/>
          </a:prstGeom>
          <a:noFill/>
        </p:spPr>
        <p:txBody>
          <a:bodyPr wrap="square">
            <a:spAutoFit/>
          </a:bodyPr>
          <a:lstStyle/>
          <a:p>
            <a:pPr algn="l">
              <a:defRPr sz="1400" b="1">
                <a:solidFill>
                  <a:srgbClr val="D4B483"/>
                </a:solidFill>
                <a:latin typeface="Helvetica Neue"/>
              </a:defRPr>
            </a:pPr>
            <a:r>
              <a:t>Core Differentiator</a:t>
            </a:r>
          </a:p>
        </p:txBody>
      </p:sp>
      <p:sp>
        <p:nvSpPr>
          <p:cNvPr id="13" name="TextBox 12"/>
          <p:cNvSpPr txBox="1"/>
          <p:nvPr/>
        </p:nvSpPr>
        <p:spPr>
          <a:xfrm>
            <a:off x="7772400" y="3749039"/>
            <a:ext cx="2560320" cy="1645920"/>
          </a:xfrm>
          <a:prstGeom prst="rect">
            <a:avLst/>
          </a:prstGeom>
          <a:noFill/>
        </p:spPr>
        <p:txBody>
          <a:bodyPr wrap="square">
            <a:spAutoFit/>
          </a:bodyPr>
          <a:lstStyle/>
          <a:p>
            <a:pPr algn="l">
              <a:defRPr sz="1600" b="0">
                <a:solidFill>
                  <a:srgbClr val="6B666A"/>
                </a:solidFill>
                <a:latin typeface="Helvetica Neue"/>
              </a:defRPr>
            </a:pPr>
            <a:r>
              <a:t>Sound is generated in real-time, not pre-recorded. The app responds to the user's body, breath, and rhythm.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914400" y="731520"/>
            <a:ext cx="1828800" cy="38100"/>
          </a:xfrm>
          <a:prstGeom prst="rect">
            <a:avLst/>
          </a:prstGeom>
          <a:solidFill>
            <a:srgbClr val="D4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058400" cy="640080"/>
          </a:xfrm>
          <a:prstGeom prst="rect">
            <a:avLst/>
          </a:prstGeom>
          <a:noFill/>
        </p:spPr>
        <p:txBody>
          <a:bodyPr wrap="square">
            <a:spAutoFit/>
          </a:bodyPr>
          <a:lstStyle/>
          <a:p>
            <a:pPr algn="l">
              <a:defRPr sz="3600" b="1">
                <a:solidFill>
                  <a:srgbClr val="3A363B"/>
                </a:solidFill>
                <a:latin typeface="Helvetica Neue"/>
              </a:defRPr>
            </a:pPr>
            <a:r>
              <a:t>The Problem</a:t>
            </a:r>
          </a:p>
        </p:txBody>
      </p:sp>
      <p:sp>
        <p:nvSpPr>
          <p:cNvPr id="4" name="TextBox 3"/>
          <p:cNvSpPr txBox="1"/>
          <p:nvPr/>
        </p:nvSpPr>
        <p:spPr>
          <a:xfrm>
            <a:off x="914400" y="1828800"/>
            <a:ext cx="9601200" cy="4114800"/>
          </a:xfrm>
          <a:prstGeom prst="rect">
            <a:avLst/>
          </a:prstGeom>
          <a:noFill/>
        </p:spPr>
        <p:txBody>
          <a:bodyPr wrap="square">
            <a:spAutoFit/>
          </a:bodyPr>
          <a:lstStyle/>
          <a:p>
            <a:pPr>
              <a:spcAft>
                <a:spcPts val="800"/>
              </a:spcAft>
            </a:pPr>
            <a:r>
              <a:rPr sz="1500">
                <a:solidFill>
                  <a:srgbClr val="D48B9A"/>
                </a:solidFill>
                <a:latin typeface="Helvetica Neue"/>
              </a:rPr>
              <a:t>●  </a:t>
            </a:r>
            <a:r>
              <a:rPr sz="1700">
                <a:solidFill>
                  <a:srgbClr val="6B666A"/>
                </a:solidFill>
                <a:latin typeface="Helvetica Neue"/>
              </a:rPr>
              <a:t>76% of U.S. adults report stress-related health impacts (APA, 2023)</a:t>
            </a:r>
          </a:p>
          <a:p>
            <a:pPr>
              <a:spcAft>
                <a:spcPts val="800"/>
              </a:spcAft>
            </a:pPr>
            <a:r>
              <a:rPr sz="1500">
                <a:solidFill>
                  <a:srgbClr val="D48B9A"/>
                </a:solidFill>
                <a:latin typeface="Helvetica Neue"/>
              </a:rPr>
              <a:t>●  </a:t>
            </a:r>
            <a:r>
              <a:rPr sz="1700">
                <a:solidFill>
                  <a:srgbClr val="6B666A"/>
                </a:solidFill>
                <a:latin typeface="Helvetica Neue"/>
              </a:rPr>
              <a:t>Most wellness apps rely on text-heavy interfaces — journaling, CBT worksheets, tracking dashboards</a:t>
            </a:r>
          </a:p>
          <a:p>
            <a:pPr>
              <a:spcAft>
                <a:spcPts val="800"/>
              </a:spcAft>
            </a:pPr>
            <a:r>
              <a:rPr sz="1500">
                <a:solidFill>
                  <a:srgbClr val="D48B9A"/>
                </a:solidFill>
                <a:latin typeface="Helvetica Neue"/>
              </a:rPr>
              <a:t>●  </a:t>
            </a:r>
            <a:r>
              <a:rPr sz="1700">
                <a:solidFill>
                  <a:srgbClr val="6B666A"/>
                </a:solidFill>
                <a:latin typeface="Helvetica Neue"/>
              </a:rPr>
              <a:t>These approaches create cognitive load for people who are already overwhelmed</a:t>
            </a:r>
          </a:p>
          <a:p>
            <a:pPr>
              <a:spcAft>
                <a:spcPts val="800"/>
              </a:spcAft>
            </a:pPr>
            <a:r>
              <a:rPr sz="1500">
                <a:solidFill>
                  <a:srgbClr val="D48B9A"/>
                </a:solidFill>
                <a:latin typeface="Helvetica Neue"/>
              </a:rPr>
              <a:t>●  </a:t>
            </a:r>
            <a:r>
              <a:rPr sz="1700">
                <a:solidFill>
                  <a:srgbClr val="6B666A"/>
                </a:solidFill>
                <a:latin typeface="Helvetica Neue"/>
              </a:rPr>
              <a:t>Music is proven to regulate heart rate, cortisol, and mood — but no app makes it interactive</a:t>
            </a:r>
          </a:p>
          <a:p>
            <a:pPr>
              <a:spcAft>
                <a:spcPts val="800"/>
              </a:spcAft>
            </a:pPr>
            <a:r>
              <a:rPr sz="1500">
                <a:solidFill>
                  <a:srgbClr val="D48B9A"/>
                </a:solidFill>
                <a:latin typeface="Helvetica Neue"/>
              </a:rPr>
              <a:t>●  </a:t>
            </a:r>
            <a:r>
              <a:rPr sz="1700">
                <a:solidFill>
                  <a:srgbClr val="6B666A"/>
                </a:solidFill>
                <a:latin typeface="Helvetica Neue"/>
              </a:rPr>
              <a:t>Gen Z and millennials want sensory, immersive experiences — not more screen reading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914400" y="731520"/>
            <a:ext cx="1828800" cy="38100"/>
          </a:xfrm>
          <a:prstGeom prst="rect">
            <a:avLst/>
          </a:prstGeom>
          <a:solidFill>
            <a:srgbClr val="7E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058400" cy="640080"/>
          </a:xfrm>
          <a:prstGeom prst="rect">
            <a:avLst/>
          </a:prstGeom>
          <a:noFill/>
        </p:spPr>
        <p:txBody>
          <a:bodyPr wrap="square">
            <a:spAutoFit/>
          </a:bodyPr>
          <a:lstStyle/>
          <a:p>
            <a:pPr algn="l">
              <a:defRPr sz="3600" b="1">
                <a:solidFill>
                  <a:srgbClr val="3A363B"/>
                </a:solidFill>
                <a:latin typeface="Helvetica Neue"/>
              </a:defRPr>
            </a:pPr>
            <a:r>
              <a:t>Our Solution</a:t>
            </a:r>
          </a:p>
        </p:txBody>
      </p:sp>
      <p:sp>
        <p:nvSpPr>
          <p:cNvPr id="4" name="TextBox 3"/>
          <p:cNvSpPr txBox="1"/>
          <p:nvPr/>
        </p:nvSpPr>
        <p:spPr>
          <a:xfrm>
            <a:off x="914400" y="1828800"/>
            <a:ext cx="9601200" cy="731520"/>
          </a:xfrm>
          <a:prstGeom prst="rect">
            <a:avLst/>
          </a:prstGeom>
          <a:noFill/>
        </p:spPr>
        <p:txBody>
          <a:bodyPr wrap="square">
            <a:spAutoFit/>
          </a:bodyPr>
          <a:lstStyle/>
          <a:p>
            <a:pPr algn="l">
              <a:defRPr sz="1800" b="0">
                <a:solidFill>
                  <a:srgbClr val="3A363B"/>
                </a:solidFill>
                <a:latin typeface="Helvetica Neue"/>
              </a:defRPr>
            </a:pPr>
            <a:r>
              <a:t>Resonance replaces passive content consumption with active sound interaction.</a:t>
            </a:r>
          </a:p>
        </p:txBody>
      </p:sp>
      <p:sp>
        <p:nvSpPr>
          <p:cNvPr id="5" name="Rounded Rectangle 4"/>
          <p:cNvSpPr/>
          <p:nvPr/>
        </p:nvSpPr>
        <p:spPr>
          <a:xfrm>
            <a:off x="914400" y="2743200"/>
            <a:ext cx="9601200" cy="822960"/>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2834640"/>
            <a:ext cx="2743200" cy="365760"/>
          </a:xfrm>
          <a:prstGeom prst="rect">
            <a:avLst/>
          </a:prstGeom>
          <a:noFill/>
        </p:spPr>
        <p:txBody>
          <a:bodyPr wrap="square">
            <a:spAutoFit/>
          </a:bodyPr>
          <a:lstStyle/>
          <a:p>
            <a:pPr algn="l">
              <a:defRPr sz="1600" b="1">
                <a:solidFill>
                  <a:srgbClr val="7EB5A6"/>
                </a:solidFill>
                <a:latin typeface="Helvetica Neue"/>
              </a:defRPr>
            </a:pPr>
            <a:r>
              <a:t>Guided Breathing + Live Audio</a:t>
            </a:r>
          </a:p>
        </p:txBody>
      </p:sp>
      <p:sp>
        <p:nvSpPr>
          <p:cNvPr id="7" name="TextBox 6"/>
          <p:cNvSpPr txBox="1"/>
          <p:nvPr/>
        </p:nvSpPr>
        <p:spPr>
          <a:xfrm>
            <a:off x="4114800" y="2880360"/>
            <a:ext cx="6217920" cy="548640"/>
          </a:xfrm>
          <a:prstGeom prst="rect">
            <a:avLst/>
          </a:prstGeom>
          <a:noFill/>
        </p:spPr>
        <p:txBody>
          <a:bodyPr wrap="square">
            <a:spAutoFit/>
          </a:bodyPr>
          <a:lstStyle/>
          <a:p>
            <a:pPr algn="l">
              <a:defRPr sz="1500" b="0">
                <a:solidFill>
                  <a:srgbClr val="6B666A"/>
                </a:solidFill>
                <a:latin typeface="Helvetica Neue"/>
              </a:defRPr>
            </a:pPr>
            <a:r>
              <a:t>Breathe in sync with ambient soundscapes generated in real-time at 432Hz</a:t>
            </a:r>
          </a:p>
        </p:txBody>
      </p:sp>
      <p:sp>
        <p:nvSpPr>
          <p:cNvPr id="8" name="Rounded Rectangle 7"/>
          <p:cNvSpPr/>
          <p:nvPr/>
        </p:nvSpPr>
        <p:spPr>
          <a:xfrm>
            <a:off x="914400" y="3749039"/>
            <a:ext cx="9601200" cy="822960"/>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3840479"/>
            <a:ext cx="2743200" cy="365760"/>
          </a:xfrm>
          <a:prstGeom prst="rect">
            <a:avLst/>
          </a:prstGeom>
          <a:noFill/>
        </p:spPr>
        <p:txBody>
          <a:bodyPr wrap="square">
            <a:spAutoFit/>
          </a:bodyPr>
          <a:lstStyle/>
          <a:p>
            <a:pPr algn="l">
              <a:defRPr sz="1600" b="1">
                <a:solidFill>
                  <a:srgbClr val="7EB5A6"/>
                </a:solidFill>
                <a:latin typeface="Helvetica Neue"/>
              </a:defRPr>
            </a:pPr>
            <a:r>
              <a:t>Mood Mapping</a:t>
            </a:r>
          </a:p>
        </p:txBody>
      </p:sp>
      <p:sp>
        <p:nvSpPr>
          <p:cNvPr id="10" name="TextBox 9"/>
          <p:cNvSpPr txBox="1"/>
          <p:nvPr/>
        </p:nvSpPr>
        <p:spPr>
          <a:xfrm>
            <a:off x="4114800" y="3886200"/>
            <a:ext cx="6217920" cy="548640"/>
          </a:xfrm>
          <a:prstGeom prst="rect">
            <a:avLst/>
          </a:prstGeom>
          <a:noFill/>
        </p:spPr>
        <p:txBody>
          <a:bodyPr wrap="square">
            <a:spAutoFit/>
          </a:bodyPr>
          <a:lstStyle/>
          <a:p>
            <a:pPr algn="l">
              <a:defRPr sz="1500" b="0">
                <a:solidFill>
                  <a:srgbClr val="6B666A"/>
                </a:solidFill>
                <a:latin typeface="Helvetica Neue"/>
              </a:defRPr>
            </a:pPr>
            <a:r>
              <a:t>Translate emotions into sound using sliders, colors, and words — the app finds your match</a:t>
            </a:r>
          </a:p>
        </p:txBody>
      </p:sp>
      <p:sp>
        <p:nvSpPr>
          <p:cNvPr id="11" name="Rounded Rectangle 10"/>
          <p:cNvSpPr/>
          <p:nvPr/>
        </p:nvSpPr>
        <p:spPr>
          <a:xfrm>
            <a:off x="914400" y="4754880"/>
            <a:ext cx="9601200" cy="822960"/>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20" y="4846320"/>
            <a:ext cx="2743200" cy="365760"/>
          </a:xfrm>
          <a:prstGeom prst="rect">
            <a:avLst/>
          </a:prstGeom>
          <a:noFill/>
        </p:spPr>
        <p:txBody>
          <a:bodyPr wrap="square">
            <a:spAutoFit/>
          </a:bodyPr>
          <a:lstStyle/>
          <a:p>
            <a:pPr algn="l">
              <a:defRPr sz="1600" b="1">
                <a:solidFill>
                  <a:srgbClr val="7EB5A6"/>
                </a:solidFill>
                <a:latin typeface="Helvetica Neue"/>
              </a:defRPr>
            </a:pPr>
            <a:r>
              <a:t>Tap to Regulate</a:t>
            </a:r>
          </a:p>
        </p:txBody>
      </p:sp>
      <p:sp>
        <p:nvSpPr>
          <p:cNvPr id="13" name="TextBox 12"/>
          <p:cNvSpPr txBox="1"/>
          <p:nvPr/>
        </p:nvSpPr>
        <p:spPr>
          <a:xfrm>
            <a:off x="4114800" y="4892040"/>
            <a:ext cx="6217920" cy="548640"/>
          </a:xfrm>
          <a:prstGeom prst="rect">
            <a:avLst/>
          </a:prstGeom>
          <a:noFill/>
        </p:spPr>
        <p:txBody>
          <a:bodyPr wrap="square">
            <a:spAutoFit/>
          </a:bodyPr>
          <a:lstStyle/>
          <a:p>
            <a:pPr algn="l">
              <a:defRPr sz="1500" b="0">
                <a:solidFill>
                  <a:srgbClr val="6B666A"/>
                </a:solidFill>
                <a:latin typeface="Helvetica Neue"/>
              </a:defRPr>
            </a:pPr>
            <a:r>
              <a:t>Tap your natural rhythm — the app detects your BPM and shapes calming sound around it</a:t>
            </a:r>
          </a:p>
        </p:txBody>
      </p:sp>
      <p:sp>
        <p:nvSpPr>
          <p:cNvPr id="14" name="Rounded Rectangle 13"/>
          <p:cNvSpPr/>
          <p:nvPr/>
        </p:nvSpPr>
        <p:spPr>
          <a:xfrm>
            <a:off x="914400" y="5760720"/>
            <a:ext cx="9601200" cy="822960"/>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88720" y="5852160"/>
            <a:ext cx="2743200" cy="365760"/>
          </a:xfrm>
          <a:prstGeom prst="rect">
            <a:avLst/>
          </a:prstGeom>
          <a:noFill/>
        </p:spPr>
        <p:txBody>
          <a:bodyPr wrap="square">
            <a:spAutoFit/>
          </a:bodyPr>
          <a:lstStyle/>
          <a:p>
            <a:pPr algn="l">
              <a:defRPr sz="1600" b="1">
                <a:solidFill>
                  <a:srgbClr val="7EB5A6"/>
                </a:solidFill>
                <a:latin typeface="Helvetica Neue"/>
              </a:defRPr>
            </a:pPr>
            <a:r>
              <a:t>Hydration &amp; Movement</a:t>
            </a:r>
          </a:p>
        </p:txBody>
      </p:sp>
      <p:sp>
        <p:nvSpPr>
          <p:cNvPr id="16" name="TextBox 15"/>
          <p:cNvSpPr txBox="1"/>
          <p:nvPr/>
        </p:nvSpPr>
        <p:spPr>
          <a:xfrm>
            <a:off x="4114800" y="5897880"/>
            <a:ext cx="6217920" cy="548640"/>
          </a:xfrm>
          <a:prstGeom prst="rect">
            <a:avLst/>
          </a:prstGeom>
          <a:noFill/>
        </p:spPr>
        <p:txBody>
          <a:bodyPr wrap="square">
            <a:spAutoFit/>
          </a:bodyPr>
          <a:lstStyle/>
          <a:p>
            <a:pPr algn="l">
              <a:defRPr sz="1500" b="0">
                <a:solidFill>
                  <a:srgbClr val="6B666A"/>
                </a:solidFill>
                <a:latin typeface="Helvetica Neue"/>
              </a:defRPr>
            </a:pPr>
            <a:r>
              <a:t>Gentle stretch guidance and water reminders paired with adaptive music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914400" y="731520"/>
            <a:ext cx="1828800" cy="38100"/>
          </a:xfrm>
          <a:prstGeom prst="rect">
            <a:avLst/>
          </a:prstGeom>
          <a:solidFill>
            <a:srgbClr val="9B8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058400" cy="640080"/>
          </a:xfrm>
          <a:prstGeom prst="rect">
            <a:avLst/>
          </a:prstGeom>
          <a:noFill/>
        </p:spPr>
        <p:txBody>
          <a:bodyPr wrap="square">
            <a:spAutoFit/>
          </a:bodyPr>
          <a:lstStyle/>
          <a:p>
            <a:pPr algn="l">
              <a:defRPr sz="3600" b="1">
                <a:solidFill>
                  <a:srgbClr val="3A363B"/>
                </a:solidFill>
                <a:latin typeface="Helvetica Neue"/>
              </a:defRPr>
            </a:pPr>
            <a:r>
              <a:t>Target Market</a:t>
            </a:r>
          </a:p>
        </p:txBody>
      </p:sp>
      <p:sp>
        <p:nvSpPr>
          <p:cNvPr id="4" name="Rounded Rectangle 3"/>
          <p:cNvSpPr/>
          <p:nvPr/>
        </p:nvSpPr>
        <p:spPr>
          <a:xfrm>
            <a:off x="914400" y="2011680"/>
            <a:ext cx="3200400" cy="3200400"/>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2194560"/>
            <a:ext cx="2743200" cy="365760"/>
          </a:xfrm>
          <a:prstGeom prst="rect">
            <a:avLst/>
          </a:prstGeom>
          <a:noFill/>
        </p:spPr>
        <p:txBody>
          <a:bodyPr wrap="square">
            <a:spAutoFit/>
          </a:bodyPr>
          <a:lstStyle/>
          <a:p>
            <a:pPr algn="l">
              <a:defRPr sz="1400" b="1">
                <a:solidFill>
                  <a:srgbClr val="9B8BC4"/>
                </a:solidFill>
                <a:latin typeface="Helvetica Neue"/>
              </a:defRPr>
            </a:pPr>
            <a:r>
              <a:t>Primary</a:t>
            </a:r>
          </a:p>
        </p:txBody>
      </p:sp>
      <p:sp>
        <p:nvSpPr>
          <p:cNvPr id="6" name="TextBox 5"/>
          <p:cNvSpPr txBox="1"/>
          <p:nvPr/>
        </p:nvSpPr>
        <p:spPr>
          <a:xfrm>
            <a:off x="1188720" y="2560320"/>
            <a:ext cx="2743200" cy="365760"/>
          </a:xfrm>
          <a:prstGeom prst="rect">
            <a:avLst/>
          </a:prstGeom>
          <a:noFill/>
        </p:spPr>
        <p:txBody>
          <a:bodyPr wrap="square">
            <a:spAutoFit/>
          </a:bodyPr>
          <a:lstStyle/>
          <a:p>
            <a:pPr algn="l">
              <a:defRPr sz="2200" b="1">
                <a:solidFill>
                  <a:srgbClr val="3A363B"/>
                </a:solidFill>
                <a:latin typeface="Helvetica Neue"/>
              </a:defRPr>
            </a:pPr>
            <a:r>
              <a:t>Ages 18–34</a:t>
            </a:r>
          </a:p>
        </p:txBody>
      </p:sp>
      <p:sp>
        <p:nvSpPr>
          <p:cNvPr id="7" name="TextBox 6"/>
          <p:cNvSpPr txBox="1"/>
          <p:nvPr/>
        </p:nvSpPr>
        <p:spPr>
          <a:xfrm>
            <a:off x="1188720" y="3017520"/>
            <a:ext cx="2743200" cy="1828800"/>
          </a:xfrm>
          <a:prstGeom prst="rect">
            <a:avLst/>
          </a:prstGeom>
          <a:noFill/>
        </p:spPr>
        <p:txBody>
          <a:bodyPr wrap="square">
            <a:spAutoFit/>
          </a:bodyPr>
          <a:lstStyle/>
          <a:p>
            <a:pPr>
              <a:spcAft>
                <a:spcPts val="800"/>
              </a:spcAft>
            </a:pPr>
            <a:r>
              <a:rPr sz="1200">
                <a:solidFill>
                  <a:srgbClr val="9B8BC4"/>
                </a:solidFill>
                <a:latin typeface="Helvetica Neue"/>
              </a:rPr>
              <a:t>●  </a:t>
            </a:r>
            <a:r>
              <a:rPr sz="1400">
                <a:solidFill>
                  <a:srgbClr val="6B666A"/>
                </a:solidFill>
                <a:latin typeface="Helvetica Neue"/>
              </a:rPr>
              <a:t>College students managing stress</a:t>
            </a:r>
          </a:p>
          <a:p>
            <a:pPr>
              <a:spcAft>
                <a:spcPts val="800"/>
              </a:spcAft>
            </a:pPr>
            <a:r>
              <a:rPr sz="1200">
                <a:solidFill>
                  <a:srgbClr val="9B8BC4"/>
                </a:solidFill>
                <a:latin typeface="Helvetica Neue"/>
              </a:rPr>
              <a:t>●  </a:t>
            </a:r>
            <a:r>
              <a:rPr sz="1400">
                <a:solidFill>
                  <a:srgbClr val="6B666A"/>
                </a:solidFill>
                <a:latin typeface="Helvetica Neue"/>
              </a:rPr>
              <a:t>Young professionals with anxiety</a:t>
            </a:r>
          </a:p>
          <a:p>
            <a:pPr>
              <a:spcAft>
                <a:spcPts val="800"/>
              </a:spcAft>
            </a:pPr>
            <a:r>
              <a:rPr sz="1200">
                <a:solidFill>
                  <a:srgbClr val="9B8BC4"/>
                </a:solidFill>
                <a:latin typeface="Helvetica Neue"/>
              </a:rPr>
              <a:t>●  </a:t>
            </a:r>
            <a:r>
              <a:rPr sz="1400">
                <a:solidFill>
                  <a:srgbClr val="6B666A"/>
                </a:solidFill>
                <a:latin typeface="Helvetica Neue"/>
              </a:rPr>
              <a:t>Music-oriented, sensory learners</a:t>
            </a:r>
          </a:p>
          <a:p>
            <a:pPr>
              <a:spcAft>
                <a:spcPts val="800"/>
              </a:spcAft>
            </a:pPr>
            <a:r>
              <a:rPr sz="1200">
                <a:solidFill>
                  <a:srgbClr val="9B8BC4"/>
                </a:solidFill>
                <a:latin typeface="Helvetica Neue"/>
              </a:rPr>
              <a:t>●  </a:t>
            </a:r>
            <a:r>
              <a:rPr sz="1400">
                <a:solidFill>
                  <a:srgbClr val="6B666A"/>
                </a:solidFill>
                <a:latin typeface="Helvetica Neue"/>
              </a:rPr>
              <a:t>Digital natives seeking non-verbal tools</a:t>
            </a:r>
          </a:p>
        </p:txBody>
      </p:sp>
      <p:sp>
        <p:nvSpPr>
          <p:cNvPr id="8" name="Rounded Rectangle 7"/>
          <p:cNvSpPr/>
          <p:nvPr/>
        </p:nvSpPr>
        <p:spPr>
          <a:xfrm>
            <a:off x="4572000" y="2011680"/>
            <a:ext cx="3200400" cy="3200400"/>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46320" y="2194560"/>
            <a:ext cx="2743200" cy="365760"/>
          </a:xfrm>
          <a:prstGeom prst="rect">
            <a:avLst/>
          </a:prstGeom>
          <a:noFill/>
        </p:spPr>
        <p:txBody>
          <a:bodyPr wrap="square">
            <a:spAutoFit/>
          </a:bodyPr>
          <a:lstStyle/>
          <a:p>
            <a:pPr algn="l">
              <a:defRPr sz="1400" b="1">
                <a:solidFill>
                  <a:srgbClr val="7EB5A6"/>
                </a:solidFill>
                <a:latin typeface="Helvetica Neue"/>
              </a:defRPr>
            </a:pPr>
            <a:r>
              <a:t>Secondary</a:t>
            </a:r>
          </a:p>
        </p:txBody>
      </p:sp>
      <p:sp>
        <p:nvSpPr>
          <p:cNvPr id="10" name="TextBox 9"/>
          <p:cNvSpPr txBox="1"/>
          <p:nvPr/>
        </p:nvSpPr>
        <p:spPr>
          <a:xfrm>
            <a:off x="4846320" y="2560320"/>
            <a:ext cx="2743200" cy="365760"/>
          </a:xfrm>
          <a:prstGeom prst="rect">
            <a:avLst/>
          </a:prstGeom>
          <a:noFill/>
        </p:spPr>
        <p:txBody>
          <a:bodyPr wrap="square">
            <a:spAutoFit/>
          </a:bodyPr>
          <a:lstStyle/>
          <a:p>
            <a:pPr algn="l">
              <a:defRPr sz="2200" b="1">
                <a:solidFill>
                  <a:srgbClr val="3A363B"/>
                </a:solidFill>
                <a:latin typeface="Helvetica Neue"/>
              </a:defRPr>
            </a:pPr>
            <a:r>
              <a:t>Ages 35–55</a:t>
            </a:r>
          </a:p>
        </p:txBody>
      </p:sp>
      <p:sp>
        <p:nvSpPr>
          <p:cNvPr id="11" name="TextBox 10"/>
          <p:cNvSpPr txBox="1"/>
          <p:nvPr/>
        </p:nvSpPr>
        <p:spPr>
          <a:xfrm>
            <a:off x="4846320" y="3017520"/>
            <a:ext cx="2743200" cy="1828800"/>
          </a:xfrm>
          <a:prstGeom prst="rect">
            <a:avLst/>
          </a:prstGeom>
          <a:noFill/>
        </p:spPr>
        <p:txBody>
          <a:bodyPr wrap="square">
            <a:spAutoFit/>
          </a:bodyPr>
          <a:lstStyle/>
          <a:p>
            <a:pPr>
              <a:spcAft>
                <a:spcPts val="800"/>
              </a:spcAft>
            </a:pPr>
            <a:r>
              <a:rPr sz="1200">
                <a:solidFill>
                  <a:srgbClr val="7EB5A6"/>
                </a:solidFill>
                <a:latin typeface="Helvetica Neue"/>
              </a:rPr>
              <a:t>●  </a:t>
            </a:r>
            <a:r>
              <a:rPr sz="1400">
                <a:solidFill>
                  <a:srgbClr val="6B666A"/>
                </a:solidFill>
                <a:latin typeface="Helvetica Neue"/>
              </a:rPr>
              <a:t>Wellness-conscious parents</a:t>
            </a:r>
          </a:p>
          <a:p>
            <a:pPr>
              <a:spcAft>
                <a:spcPts val="800"/>
              </a:spcAft>
            </a:pPr>
            <a:r>
              <a:rPr sz="1200">
                <a:solidFill>
                  <a:srgbClr val="7EB5A6"/>
                </a:solidFill>
                <a:latin typeface="Helvetica Neue"/>
              </a:rPr>
              <a:t>●  </a:t>
            </a:r>
            <a:r>
              <a:rPr sz="1400">
                <a:solidFill>
                  <a:srgbClr val="6B666A"/>
                </a:solidFill>
                <a:latin typeface="Helvetica Neue"/>
              </a:rPr>
              <a:t>Therapists recommending tools</a:t>
            </a:r>
          </a:p>
          <a:p>
            <a:pPr>
              <a:spcAft>
                <a:spcPts val="800"/>
              </a:spcAft>
            </a:pPr>
            <a:r>
              <a:rPr sz="1200">
                <a:solidFill>
                  <a:srgbClr val="7EB5A6"/>
                </a:solidFill>
                <a:latin typeface="Helvetica Neue"/>
              </a:rPr>
              <a:t>●  </a:t>
            </a:r>
            <a:r>
              <a:rPr sz="1400">
                <a:solidFill>
                  <a:srgbClr val="6B666A"/>
                </a:solidFill>
                <a:latin typeface="Helvetica Neue"/>
              </a:rPr>
              <a:t>Meditation practitioners</a:t>
            </a:r>
          </a:p>
          <a:p>
            <a:pPr>
              <a:spcAft>
                <a:spcPts val="800"/>
              </a:spcAft>
            </a:pPr>
            <a:r>
              <a:rPr sz="1200">
                <a:solidFill>
                  <a:srgbClr val="7EB5A6"/>
                </a:solidFill>
                <a:latin typeface="Helvetica Neue"/>
              </a:rPr>
              <a:t>●  </a:t>
            </a:r>
            <a:r>
              <a:rPr sz="1400">
                <a:solidFill>
                  <a:srgbClr val="6B666A"/>
                </a:solidFill>
                <a:latin typeface="Helvetica Neue"/>
              </a:rPr>
              <a:t>People with sensory processing needs</a:t>
            </a:r>
          </a:p>
        </p:txBody>
      </p:sp>
      <p:sp>
        <p:nvSpPr>
          <p:cNvPr id="12" name="Rounded Rectangle 11"/>
          <p:cNvSpPr/>
          <p:nvPr/>
        </p:nvSpPr>
        <p:spPr>
          <a:xfrm>
            <a:off x="8229600" y="2011680"/>
            <a:ext cx="3200400" cy="3200400"/>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0" y="2194560"/>
            <a:ext cx="2743200" cy="365760"/>
          </a:xfrm>
          <a:prstGeom prst="rect">
            <a:avLst/>
          </a:prstGeom>
          <a:noFill/>
        </p:spPr>
        <p:txBody>
          <a:bodyPr wrap="square">
            <a:spAutoFit/>
          </a:bodyPr>
          <a:lstStyle/>
          <a:p>
            <a:pPr algn="l">
              <a:defRPr sz="1400" b="1">
                <a:solidFill>
                  <a:srgbClr val="D4B483"/>
                </a:solidFill>
                <a:latin typeface="Helvetica Neue"/>
              </a:defRPr>
            </a:pPr>
            <a:r>
              <a:t>Niche</a:t>
            </a:r>
          </a:p>
        </p:txBody>
      </p:sp>
      <p:sp>
        <p:nvSpPr>
          <p:cNvPr id="14" name="TextBox 13"/>
          <p:cNvSpPr txBox="1"/>
          <p:nvPr/>
        </p:nvSpPr>
        <p:spPr>
          <a:xfrm>
            <a:off x="8503920" y="2560320"/>
            <a:ext cx="2743200" cy="365760"/>
          </a:xfrm>
          <a:prstGeom prst="rect">
            <a:avLst/>
          </a:prstGeom>
          <a:noFill/>
        </p:spPr>
        <p:txBody>
          <a:bodyPr wrap="square">
            <a:spAutoFit/>
          </a:bodyPr>
          <a:lstStyle/>
          <a:p>
            <a:pPr algn="l">
              <a:defRPr sz="2200" b="1">
                <a:solidFill>
                  <a:srgbClr val="3A363B"/>
                </a:solidFill>
                <a:latin typeface="Helvetica Neue"/>
              </a:defRPr>
            </a:pPr>
            <a:r>
              <a:t>Specialized</a:t>
            </a:r>
          </a:p>
        </p:txBody>
      </p:sp>
      <p:sp>
        <p:nvSpPr>
          <p:cNvPr id="15" name="TextBox 14"/>
          <p:cNvSpPr txBox="1"/>
          <p:nvPr/>
        </p:nvSpPr>
        <p:spPr>
          <a:xfrm>
            <a:off x="8503920" y="3017520"/>
            <a:ext cx="2743200" cy="1828800"/>
          </a:xfrm>
          <a:prstGeom prst="rect">
            <a:avLst/>
          </a:prstGeom>
          <a:noFill/>
        </p:spPr>
        <p:txBody>
          <a:bodyPr wrap="square">
            <a:spAutoFit/>
          </a:bodyPr>
          <a:lstStyle/>
          <a:p>
            <a:pPr>
              <a:spcAft>
                <a:spcPts val="800"/>
              </a:spcAft>
            </a:pPr>
            <a:r>
              <a:rPr sz="1200">
                <a:solidFill>
                  <a:srgbClr val="D4B483"/>
                </a:solidFill>
                <a:latin typeface="Helvetica Neue"/>
              </a:rPr>
              <a:t>●  </a:t>
            </a:r>
            <a:r>
              <a:rPr sz="1400">
                <a:solidFill>
                  <a:srgbClr val="6B666A"/>
                </a:solidFill>
                <a:latin typeface="Helvetica Neue"/>
              </a:rPr>
              <a:t>Music therapy patients</a:t>
            </a:r>
          </a:p>
          <a:p>
            <a:pPr>
              <a:spcAft>
                <a:spcPts val="800"/>
              </a:spcAft>
            </a:pPr>
            <a:r>
              <a:rPr sz="1200">
                <a:solidFill>
                  <a:srgbClr val="D4B483"/>
                </a:solidFill>
                <a:latin typeface="Helvetica Neue"/>
              </a:rPr>
              <a:t>●  </a:t>
            </a:r>
            <a:r>
              <a:rPr sz="1400">
                <a:solidFill>
                  <a:srgbClr val="6B666A"/>
                </a:solidFill>
                <a:latin typeface="Helvetica Neue"/>
              </a:rPr>
              <a:t>ADHD / neurodivergent users</a:t>
            </a:r>
          </a:p>
          <a:p>
            <a:pPr>
              <a:spcAft>
                <a:spcPts val="800"/>
              </a:spcAft>
            </a:pPr>
            <a:r>
              <a:rPr sz="1200">
                <a:solidFill>
                  <a:srgbClr val="D4B483"/>
                </a:solidFill>
                <a:latin typeface="Helvetica Neue"/>
              </a:rPr>
              <a:t>●  </a:t>
            </a:r>
            <a:r>
              <a:rPr sz="1400">
                <a:solidFill>
                  <a:srgbClr val="6B666A"/>
                </a:solidFill>
                <a:latin typeface="Helvetica Neue"/>
              </a:rPr>
              <a:t>Trauma recovery support</a:t>
            </a:r>
          </a:p>
          <a:p>
            <a:pPr>
              <a:spcAft>
                <a:spcPts val="800"/>
              </a:spcAft>
            </a:pPr>
            <a:r>
              <a:rPr sz="1200">
                <a:solidFill>
                  <a:srgbClr val="D4B483"/>
                </a:solidFill>
                <a:latin typeface="Helvetica Neue"/>
              </a:rPr>
              <a:t>●  </a:t>
            </a:r>
            <a:r>
              <a:rPr sz="1400">
                <a:solidFill>
                  <a:srgbClr val="6B666A"/>
                </a:solidFill>
                <a:latin typeface="Helvetica Neue"/>
              </a:rPr>
              <a:t>Sleep and insomnia management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914400" y="731520"/>
            <a:ext cx="1828800" cy="38100"/>
          </a:xfrm>
          <a:prstGeom prst="rect">
            <a:avLst/>
          </a:prstGeom>
          <a:solidFill>
            <a:srgbClr val="D4B4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058400" cy="640080"/>
          </a:xfrm>
          <a:prstGeom prst="rect">
            <a:avLst/>
          </a:prstGeom>
          <a:noFill/>
        </p:spPr>
        <p:txBody>
          <a:bodyPr wrap="square">
            <a:spAutoFit/>
          </a:bodyPr>
          <a:lstStyle/>
          <a:p>
            <a:pPr algn="l">
              <a:defRPr sz="3600" b="1">
                <a:solidFill>
                  <a:srgbClr val="3A363B"/>
                </a:solidFill>
                <a:latin typeface="Helvetica Neue"/>
              </a:defRPr>
            </a:pPr>
            <a:r>
              <a:t>Market Opportunity</a:t>
            </a:r>
          </a:p>
        </p:txBody>
      </p:sp>
      <p:sp>
        <p:nvSpPr>
          <p:cNvPr id="4" name="Rounded Rectangle 3"/>
          <p:cNvSpPr/>
          <p:nvPr/>
        </p:nvSpPr>
        <p:spPr>
          <a:xfrm>
            <a:off x="914400" y="2011680"/>
            <a:ext cx="3200400" cy="1828800"/>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2194560"/>
            <a:ext cx="2743200" cy="365760"/>
          </a:xfrm>
          <a:prstGeom prst="rect">
            <a:avLst/>
          </a:prstGeom>
          <a:noFill/>
        </p:spPr>
        <p:txBody>
          <a:bodyPr wrap="square">
            <a:spAutoFit/>
          </a:bodyPr>
          <a:lstStyle/>
          <a:p>
            <a:pPr algn="l">
              <a:defRPr sz="1300" b="1">
                <a:solidFill>
                  <a:srgbClr val="D4B483"/>
                </a:solidFill>
                <a:latin typeface="Helvetica Neue"/>
              </a:defRPr>
            </a:pPr>
            <a:r>
              <a:t>Global Wellness App Market</a:t>
            </a:r>
          </a:p>
        </p:txBody>
      </p:sp>
      <p:sp>
        <p:nvSpPr>
          <p:cNvPr id="6" name="TextBox 5"/>
          <p:cNvSpPr txBox="1"/>
          <p:nvPr/>
        </p:nvSpPr>
        <p:spPr>
          <a:xfrm>
            <a:off x="1188720" y="2651760"/>
            <a:ext cx="2743200" cy="457200"/>
          </a:xfrm>
          <a:prstGeom prst="rect">
            <a:avLst/>
          </a:prstGeom>
          <a:noFill/>
        </p:spPr>
        <p:txBody>
          <a:bodyPr wrap="square">
            <a:spAutoFit/>
          </a:bodyPr>
          <a:lstStyle/>
          <a:p>
            <a:pPr algn="l">
              <a:defRPr sz="4000" b="1">
                <a:solidFill>
                  <a:srgbClr val="3A363B"/>
                </a:solidFill>
                <a:latin typeface="Helvetica Neue"/>
              </a:defRPr>
            </a:pPr>
            <a:r>
              <a:t>$7.8B</a:t>
            </a:r>
          </a:p>
        </p:txBody>
      </p:sp>
      <p:sp>
        <p:nvSpPr>
          <p:cNvPr id="7" name="TextBox 6"/>
          <p:cNvSpPr txBox="1"/>
          <p:nvPr/>
        </p:nvSpPr>
        <p:spPr>
          <a:xfrm>
            <a:off x="1188720" y="3200400"/>
            <a:ext cx="2743200" cy="365760"/>
          </a:xfrm>
          <a:prstGeom prst="rect">
            <a:avLst/>
          </a:prstGeom>
          <a:noFill/>
        </p:spPr>
        <p:txBody>
          <a:bodyPr wrap="square">
            <a:spAutoFit/>
          </a:bodyPr>
          <a:lstStyle/>
          <a:p>
            <a:pPr algn="l">
              <a:defRPr sz="1400" b="0">
                <a:solidFill>
                  <a:srgbClr val="6B666A"/>
                </a:solidFill>
                <a:latin typeface="Helvetica Neue"/>
              </a:defRPr>
            </a:pPr>
            <a:r>
              <a:t>by 2027 (CAGR 17.7%)</a:t>
            </a:r>
          </a:p>
        </p:txBody>
      </p:sp>
      <p:sp>
        <p:nvSpPr>
          <p:cNvPr id="8" name="Rounded Rectangle 7"/>
          <p:cNvSpPr/>
          <p:nvPr/>
        </p:nvSpPr>
        <p:spPr>
          <a:xfrm>
            <a:off x="4572000" y="2011680"/>
            <a:ext cx="3200400" cy="1828800"/>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46320" y="2194560"/>
            <a:ext cx="2743200" cy="365760"/>
          </a:xfrm>
          <a:prstGeom prst="rect">
            <a:avLst/>
          </a:prstGeom>
          <a:noFill/>
        </p:spPr>
        <p:txBody>
          <a:bodyPr wrap="square">
            <a:spAutoFit/>
          </a:bodyPr>
          <a:lstStyle/>
          <a:p>
            <a:pPr algn="l">
              <a:defRPr sz="1300" b="1">
                <a:solidFill>
                  <a:srgbClr val="7EB5A6"/>
                </a:solidFill>
                <a:latin typeface="Helvetica Neue"/>
              </a:defRPr>
            </a:pPr>
            <a:r>
              <a:t>Mental Health App Market</a:t>
            </a:r>
          </a:p>
        </p:txBody>
      </p:sp>
      <p:sp>
        <p:nvSpPr>
          <p:cNvPr id="10" name="TextBox 9"/>
          <p:cNvSpPr txBox="1"/>
          <p:nvPr/>
        </p:nvSpPr>
        <p:spPr>
          <a:xfrm>
            <a:off x="4846320" y="2651760"/>
            <a:ext cx="2743200" cy="457200"/>
          </a:xfrm>
          <a:prstGeom prst="rect">
            <a:avLst/>
          </a:prstGeom>
          <a:noFill/>
        </p:spPr>
        <p:txBody>
          <a:bodyPr wrap="square">
            <a:spAutoFit/>
          </a:bodyPr>
          <a:lstStyle/>
          <a:p>
            <a:pPr algn="l">
              <a:defRPr sz="4000" b="1">
                <a:solidFill>
                  <a:srgbClr val="3A363B"/>
                </a:solidFill>
                <a:latin typeface="Helvetica Neue"/>
              </a:defRPr>
            </a:pPr>
            <a:r>
              <a:t>$5.2B</a:t>
            </a:r>
          </a:p>
        </p:txBody>
      </p:sp>
      <p:sp>
        <p:nvSpPr>
          <p:cNvPr id="11" name="TextBox 10"/>
          <p:cNvSpPr txBox="1"/>
          <p:nvPr/>
        </p:nvSpPr>
        <p:spPr>
          <a:xfrm>
            <a:off x="4846320" y="3200400"/>
            <a:ext cx="2743200" cy="365760"/>
          </a:xfrm>
          <a:prstGeom prst="rect">
            <a:avLst/>
          </a:prstGeom>
          <a:noFill/>
        </p:spPr>
        <p:txBody>
          <a:bodyPr wrap="square">
            <a:spAutoFit/>
          </a:bodyPr>
          <a:lstStyle/>
          <a:p>
            <a:pPr algn="l">
              <a:defRPr sz="1400" b="0">
                <a:solidFill>
                  <a:srgbClr val="6B666A"/>
                </a:solidFill>
                <a:latin typeface="Helvetica Neue"/>
              </a:defRPr>
            </a:pPr>
            <a:r>
              <a:t>by 2027 (CAGR 15.9%)</a:t>
            </a:r>
          </a:p>
        </p:txBody>
      </p:sp>
      <p:sp>
        <p:nvSpPr>
          <p:cNvPr id="12" name="Rounded Rectangle 11"/>
          <p:cNvSpPr/>
          <p:nvPr/>
        </p:nvSpPr>
        <p:spPr>
          <a:xfrm>
            <a:off x="8229600" y="2011680"/>
            <a:ext cx="3200400" cy="1828800"/>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0" y="2194560"/>
            <a:ext cx="2743200" cy="365760"/>
          </a:xfrm>
          <a:prstGeom prst="rect">
            <a:avLst/>
          </a:prstGeom>
          <a:noFill/>
        </p:spPr>
        <p:txBody>
          <a:bodyPr wrap="square">
            <a:spAutoFit/>
          </a:bodyPr>
          <a:lstStyle/>
          <a:p>
            <a:pPr algn="l">
              <a:defRPr sz="1300" b="1">
                <a:solidFill>
                  <a:srgbClr val="9B8BC4"/>
                </a:solidFill>
                <a:latin typeface="Helvetica Neue"/>
              </a:defRPr>
            </a:pPr>
            <a:r>
              <a:t>Music Therapy Market</a:t>
            </a:r>
          </a:p>
        </p:txBody>
      </p:sp>
      <p:sp>
        <p:nvSpPr>
          <p:cNvPr id="14" name="TextBox 13"/>
          <p:cNvSpPr txBox="1"/>
          <p:nvPr/>
        </p:nvSpPr>
        <p:spPr>
          <a:xfrm>
            <a:off x="8503920" y="2651760"/>
            <a:ext cx="2743200" cy="457200"/>
          </a:xfrm>
          <a:prstGeom prst="rect">
            <a:avLst/>
          </a:prstGeom>
          <a:noFill/>
        </p:spPr>
        <p:txBody>
          <a:bodyPr wrap="square">
            <a:spAutoFit/>
          </a:bodyPr>
          <a:lstStyle/>
          <a:p>
            <a:pPr algn="l">
              <a:defRPr sz="4000" b="1">
                <a:solidFill>
                  <a:srgbClr val="3A363B"/>
                </a:solidFill>
                <a:latin typeface="Helvetica Neue"/>
              </a:defRPr>
            </a:pPr>
            <a:r>
              <a:t>$2.1B</a:t>
            </a:r>
          </a:p>
        </p:txBody>
      </p:sp>
      <p:sp>
        <p:nvSpPr>
          <p:cNvPr id="15" name="TextBox 14"/>
          <p:cNvSpPr txBox="1"/>
          <p:nvPr/>
        </p:nvSpPr>
        <p:spPr>
          <a:xfrm>
            <a:off x="8503920" y="3200400"/>
            <a:ext cx="2743200" cy="365760"/>
          </a:xfrm>
          <a:prstGeom prst="rect">
            <a:avLst/>
          </a:prstGeom>
          <a:noFill/>
        </p:spPr>
        <p:txBody>
          <a:bodyPr wrap="square">
            <a:spAutoFit/>
          </a:bodyPr>
          <a:lstStyle/>
          <a:p>
            <a:pPr algn="l">
              <a:defRPr sz="1400" b="0">
                <a:solidFill>
                  <a:srgbClr val="6B666A"/>
                </a:solidFill>
                <a:latin typeface="Helvetica Neue"/>
              </a:defRPr>
            </a:pPr>
            <a:r>
              <a:t>by 2028 (CAGR 12.4%)</a:t>
            </a:r>
          </a:p>
        </p:txBody>
      </p:sp>
      <p:sp>
        <p:nvSpPr>
          <p:cNvPr id="16" name="TextBox 15"/>
          <p:cNvSpPr txBox="1"/>
          <p:nvPr/>
        </p:nvSpPr>
        <p:spPr>
          <a:xfrm>
            <a:off x="914400" y="4297680"/>
            <a:ext cx="9601200" cy="2286000"/>
          </a:xfrm>
          <a:prstGeom prst="rect">
            <a:avLst/>
          </a:prstGeom>
          <a:noFill/>
        </p:spPr>
        <p:txBody>
          <a:bodyPr wrap="square">
            <a:spAutoFit/>
          </a:bodyPr>
          <a:lstStyle/>
          <a:p>
            <a:pPr>
              <a:spcAft>
                <a:spcPts val="800"/>
              </a:spcAft>
            </a:pPr>
            <a:r>
              <a:rPr sz="1300">
                <a:solidFill>
                  <a:srgbClr val="D4B483"/>
                </a:solidFill>
                <a:latin typeface="Helvetica Neue"/>
              </a:rPr>
              <a:t>●  </a:t>
            </a:r>
            <a:r>
              <a:rPr sz="1500">
                <a:solidFill>
                  <a:srgbClr val="6B666A"/>
                </a:solidFill>
                <a:latin typeface="Helvetica Neue"/>
              </a:rPr>
              <a:t>Post-pandemic mental health awareness driving sustained demand for accessible tools</a:t>
            </a:r>
          </a:p>
          <a:p>
            <a:pPr>
              <a:spcAft>
                <a:spcPts val="800"/>
              </a:spcAft>
            </a:pPr>
            <a:r>
              <a:rPr sz="1300">
                <a:solidFill>
                  <a:srgbClr val="D4B483"/>
                </a:solidFill>
                <a:latin typeface="Helvetica Neue"/>
              </a:rPr>
              <a:t>●  </a:t>
            </a:r>
            <a:r>
              <a:rPr sz="1500">
                <a:solidFill>
                  <a:srgbClr val="6B666A"/>
                </a:solidFill>
                <a:latin typeface="Helvetica Neue"/>
              </a:rPr>
              <a:t>Gen Z preference for sensory/interactive experiences over text-based interfaces</a:t>
            </a:r>
          </a:p>
          <a:p>
            <a:pPr>
              <a:spcAft>
                <a:spcPts val="800"/>
              </a:spcAft>
            </a:pPr>
            <a:r>
              <a:rPr sz="1300">
                <a:solidFill>
                  <a:srgbClr val="D4B483"/>
                </a:solidFill>
                <a:latin typeface="Helvetica Neue"/>
              </a:rPr>
              <a:t>●  </a:t>
            </a:r>
            <a:r>
              <a:rPr sz="1500">
                <a:solidFill>
                  <a:srgbClr val="6B666A"/>
                </a:solidFill>
                <a:latin typeface="Helvetica Neue"/>
              </a:rPr>
              <a:t>Apple Health and wellness ecosystem integration creating distribution opportunities</a:t>
            </a:r>
          </a:p>
          <a:p>
            <a:pPr>
              <a:spcAft>
                <a:spcPts val="800"/>
              </a:spcAft>
            </a:pPr>
            <a:r>
              <a:rPr sz="1300">
                <a:solidFill>
                  <a:srgbClr val="D4B483"/>
                </a:solidFill>
                <a:latin typeface="Helvetica Neue"/>
              </a:rPr>
              <a:t>●  </a:t>
            </a:r>
            <a:r>
              <a:rPr sz="1500">
                <a:solidFill>
                  <a:srgbClr val="6B666A"/>
                </a:solidFill>
                <a:latin typeface="Helvetica Neue"/>
              </a:rPr>
              <a:t>Growing clinical evidence supporting music therapy and sound-based interventions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914400" y="731520"/>
            <a:ext cx="1828800" cy="38100"/>
          </a:xfrm>
          <a:prstGeom prst="rect">
            <a:avLst/>
          </a:prstGeom>
          <a:solidFill>
            <a:srgbClr val="7E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058400" cy="640080"/>
          </a:xfrm>
          <a:prstGeom prst="rect">
            <a:avLst/>
          </a:prstGeom>
          <a:noFill/>
        </p:spPr>
        <p:txBody>
          <a:bodyPr wrap="square">
            <a:spAutoFit/>
          </a:bodyPr>
          <a:lstStyle/>
          <a:p>
            <a:pPr algn="l">
              <a:defRPr sz="3600" b="1">
                <a:solidFill>
                  <a:srgbClr val="3A363B"/>
                </a:solidFill>
                <a:latin typeface="Helvetica Neue"/>
              </a:defRPr>
            </a:pPr>
            <a:r>
              <a:t>Product Overview</a:t>
            </a:r>
          </a:p>
        </p:txBody>
      </p:sp>
      <p:sp>
        <p:nvSpPr>
          <p:cNvPr id="4" name="Rounded Rectangle 3"/>
          <p:cNvSpPr/>
          <p:nvPr/>
        </p:nvSpPr>
        <p:spPr>
          <a:xfrm>
            <a:off x="914400" y="2011680"/>
            <a:ext cx="2377440" cy="3657600"/>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2286000"/>
            <a:ext cx="2011680" cy="457200"/>
          </a:xfrm>
          <a:prstGeom prst="rect">
            <a:avLst/>
          </a:prstGeom>
          <a:noFill/>
        </p:spPr>
        <p:txBody>
          <a:bodyPr wrap="square">
            <a:spAutoFit/>
          </a:bodyPr>
          <a:lstStyle/>
          <a:p>
            <a:pPr algn="ctr">
              <a:defRPr sz="3200" b="0">
                <a:solidFill>
                  <a:srgbClr val="9B8BC4"/>
                </a:solidFill>
                <a:latin typeface="Helvetica Neue"/>
              </a:defRPr>
            </a:pPr>
            <a:r>
              <a:t>⌂</a:t>
            </a:r>
          </a:p>
        </p:txBody>
      </p:sp>
      <p:sp>
        <p:nvSpPr>
          <p:cNvPr id="6" name="TextBox 5"/>
          <p:cNvSpPr txBox="1"/>
          <p:nvPr/>
        </p:nvSpPr>
        <p:spPr>
          <a:xfrm>
            <a:off x="1097280" y="2834640"/>
            <a:ext cx="2011680" cy="365760"/>
          </a:xfrm>
          <a:prstGeom prst="rect">
            <a:avLst/>
          </a:prstGeom>
          <a:noFill/>
        </p:spPr>
        <p:txBody>
          <a:bodyPr wrap="square">
            <a:spAutoFit/>
          </a:bodyPr>
          <a:lstStyle/>
          <a:p>
            <a:pPr algn="ctr">
              <a:defRPr sz="2000" b="1">
                <a:solidFill>
                  <a:srgbClr val="3A363B"/>
                </a:solidFill>
                <a:latin typeface="Helvetica Neue"/>
              </a:defRPr>
            </a:pPr>
            <a:r>
              <a:t>Home</a:t>
            </a:r>
          </a:p>
        </p:txBody>
      </p:sp>
      <p:sp>
        <p:nvSpPr>
          <p:cNvPr id="7" name="TextBox 6"/>
          <p:cNvSpPr txBox="1"/>
          <p:nvPr/>
        </p:nvSpPr>
        <p:spPr>
          <a:xfrm>
            <a:off x="1097280" y="3291840"/>
            <a:ext cx="2011680" cy="2011680"/>
          </a:xfrm>
          <a:prstGeom prst="rect">
            <a:avLst/>
          </a:prstGeom>
          <a:noFill/>
        </p:spPr>
        <p:txBody>
          <a:bodyPr wrap="square">
            <a:spAutoFit/>
          </a:bodyPr>
          <a:lstStyle/>
          <a:p>
            <a:pPr algn="ctr">
              <a:defRPr sz="1400" b="0">
                <a:solidFill>
                  <a:srgbClr val="6B666A"/>
                </a:solidFill>
                <a:latin typeface="Helvetica Neue"/>
              </a:defRPr>
            </a:pPr>
            <a:r>
              <a:t>Time-aware greeting, wellness overview, now playing, daily quote from API</a:t>
            </a:r>
          </a:p>
        </p:txBody>
      </p:sp>
      <p:sp>
        <p:nvSpPr>
          <p:cNvPr id="8" name="Rounded Rectangle 7"/>
          <p:cNvSpPr/>
          <p:nvPr/>
        </p:nvSpPr>
        <p:spPr>
          <a:xfrm>
            <a:off x="3566160" y="2011680"/>
            <a:ext cx="2377440" cy="3657600"/>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49039" y="2286000"/>
            <a:ext cx="2011680" cy="457200"/>
          </a:xfrm>
          <a:prstGeom prst="rect">
            <a:avLst/>
          </a:prstGeom>
          <a:noFill/>
        </p:spPr>
        <p:txBody>
          <a:bodyPr wrap="square">
            <a:spAutoFit/>
          </a:bodyPr>
          <a:lstStyle/>
          <a:p>
            <a:pPr algn="ctr">
              <a:defRPr sz="3200" b="0">
                <a:solidFill>
                  <a:srgbClr val="7EB5A6"/>
                </a:solidFill>
                <a:latin typeface="Helvetica Neue"/>
              </a:defRPr>
            </a:pPr>
            <a:r>
              <a:t>🌿</a:t>
            </a:r>
          </a:p>
        </p:txBody>
      </p:sp>
      <p:sp>
        <p:nvSpPr>
          <p:cNvPr id="10" name="TextBox 9"/>
          <p:cNvSpPr txBox="1"/>
          <p:nvPr/>
        </p:nvSpPr>
        <p:spPr>
          <a:xfrm>
            <a:off x="3749039" y="2834640"/>
            <a:ext cx="2011680" cy="365760"/>
          </a:xfrm>
          <a:prstGeom prst="rect">
            <a:avLst/>
          </a:prstGeom>
          <a:noFill/>
        </p:spPr>
        <p:txBody>
          <a:bodyPr wrap="square">
            <a:spAutoFit/>
          </a:bodyPr>
          <a:lstStyle/>
          <a:p>
            <a:pPr algn="ctr">
              <a:defRPr sz="2000" b="1">
                <a:solidFill>
                  <a:srgbClr val="3A363B"/>
                </a:solidFill>
                <a:latin typeface="Helvetica Neue"/>
              </a:defRPr>
            </a:pPr>
            <a:r>
              <a:t>Wellness</a:t>
            </a:r>
          </a:p>
        </p:txBody>
      </p:sp>
      <p:sp>
        <p:nvSpPr>
          <p:cNvPr id="11" name="TextBox 10"/>
          <p:cNvSpPr txBox="1"/>
          <p:nvPr/>
        </p:nvSpPr>
        <p:spPr>
          <a:xfrm>
            <a:off x="3749039" y="3291840"/>
            <a:ext cx="2011680" cy="2011680"/>
          </a:xfrm>
          <a:prstGeom prst="rect">
            <a:avLst/>
          </a:prstGeom>
          <a:noFill/>
        </p:spPr>
        <p:txBody>
          <a:bodyPr wrap="square">
            <a:spAutoFit/>
          </a:bodyPr>
          <a:lstStyle/>
          <a:p>
            <a:pPr algn="ctr">
              <a:defRPr sz="1400" b="0">
                <a:solidFill>
                  <a:srgbClr val="6B666A"/>
                </a:solidFill>
                <a:latin typeface="Helvetica Neue"/>
              </a:defRPr>
            </a:pPr>
            <a:r>
              <a:t>Guided breathing with live audio synthesis, stretch routines, hydration</a:t>
            </a:r>
          </a:p>
        </p:txBody>
      </p:sp>
      <p:sp>
        <p:nvSpPr>
          <p:cNvPr id="12" name="Rounded Rectangle 11"/>
          <p:cNvSpPr/>
          <p:nvPr/>
        </p:nvSpPr>
        <p:spPr>
          <a:xfrm>
            <a:off x="6217920" y="2011680"/>
            <a:ext cx="2377440" cy="3657600"/>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2286000"/>
            <a:ext cx="2011680" cy="457200"/>
          </a:xfrm>
          <a:prstGeom prst="rect">
            <a:avLst/>
          </a:prstGeom>
          <a:noFill/>
        </p:spPr>
        <p:txBody>
          <a:bodyPr wrap="square">
            <a:spAutoFit/>
          </a:bodyPr>
          <a:lstStyle/>
          <a:p>
            <a:pPr algn="ctr">
              <a:defRPr sz="3200" b="0">
                <a:solidFill>
                  <a:srgbClr val="D4B483"/>
                </a:solidFill>
                <a:latin typeface="Helvetica Neue"/>
              </a:defRPr>
            </a:pPr>
            <a:r>
              <a:t>♫</a:t>
            </a:r>
          </a:p>
        </p:txBody>
      </p:sp>
      <p:sp>
        <p:nvSpPr>
          <p:cNvPr id="14" name="TextBox 13"/>
          <p:cNvSpPr txBox="1"/>
          <p:nvPr/>
        </p:nvSpPr>
        <p:spPr>
          <a:xfrm>
            <a:off x="6400800" y="2834640"/>
            <a:ext cx="2011680" cy="365760"/>
          </a:xfrm>
          <a:prstGeom prst="rect">
            <a:avLst/>
          </a:prstGeom>
          <a:noFill/>
        </p:spPr>
        <p:txBody>
          <a:bodyPr wrap="square">
            <a:spAutoFit/>
          </a:bodyPr>
          <a:lstStyle/>
          <a:p>
            <a:pPr algn="ctr">
              <a:defRPr sz="2000" b="1">
                <a:solidFill>
                  <a:srgbClr val="3A363B"/>
                </a:solidFill>
                <a:latin typeface="Helvetica Neue"/>
              </a:defRPr>
            </a:pPr>
            <a:r>
              <a:t>Music</a:t>
            </a:r>
          </a:p>
        </p:txBody>
      </p:sp>
      <p:sp>
        <p:nvSpPr>
          <p:cNvPr id="15" name="TextBox 14"/>
          <p:cNvSpPr txBox="1"/>
          <p:nvPr/>
        </p:nvSpPr>
        <p:spPr>
          <a:xfrm>
            <a:off x="6400800" y="3291840"/>
            <a:ext cx="2011680" cy="2011680"/>
          </a:xfrm>
          <a:prstGeom prst="rect">
            <a:avLst/>
          </a:prstGeom>
          <a:noFill/>
        </p:spPr>
        <p:txBody>
          <a:bodyPr wrap="square">
            <a:spAutoFit/>
          </a:bodyPr>
          <a:lstStyle/>
          <a:p>
            <a:pPr algn="ctr">
              <a:defRPr sz="1400" b="0">
                <a:solidFill>
                  <a:srgbClr val="6B666A"/>
                </a:solidFill>
                <a:latin typeface="Helvetica Neue"/>
              </a:defRPr>
            </a:pPr>
            <a:r>
              <a:t>Mood mapping with sliders + color + words, tap-to-regulate with BPM detection</a:t>
            </a:r>
          </a:p>
        </p:txBody>
      </p:sp>
      <p:sp>
        <p:nvSpPr>
          <p:cNvPr id="16" name="Rounded Rectangle 15"/>
          <p:cNvSpPr/>
          <p:nvPr/>
        </p:nvSpPr>
        <p:spPr>
          <a:xfrm>
            <a:off x="8869680" y="2011680"/>
            <a:ext cx="2377440" cy="3657600"/>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52559" y="2286000"/>
            <a:ext cx="2011680" cy="457200"/>
          </a:xfrm>
          <a:prstGeom prst="rect">
            <a:avLst/>
          </a:prstGeom>
          <a:noFill/>
        </p:spPr>
        <p:txBody>
          <a:bodyPr wrap="square">
            <a:spAutoFit/>
          </a:bodyPr>
          <a:lstStyle/>
          <a:p>
            <a:pPr algn="ctr">
              <a:defRPr sz="3200" b="0">
                <a:solidFill>
                  <a:srgbClr val="D48B9A"/>
                </a:solidFill>
                <a:latin typeface="Helvetica Neue"/>
              </a:defRPr>
            </a:pPr>
            <a:r>
              <a:t>🤝</a:t>
            </a:r>
          </a:p>
        </p:txBody>
      </p:sp>
      <p:sp>
        <p:nvSpPr>
          <p:cNvPr id="18" name="TextBox 17"/>
          <p:cNvSpPr txBox="1"/>
          <p:nvPr/>
        </p:nvSpPr>
        <p:spPr>
          <a:xfrm>
            <a:off x="9052559" y="2834640"/>
            <a:ext cx="2011680" cy="365760"/>
          </a:xfrm>
          <a:prstGeom prst="rect">
            <a:avLst/>
          </a:prstGeom>
          <a:noFill/>
        </p:spPr>
        <p:txBody>
          <a:bodyPr wrap="square">
            <a:spAutoFit/>
          </a:bodyPr>
          <a:lstStyle/>
          <a:p>
            <a:pPr algn="ctr">
              <a:defRPr sz="2000" b="1">
                <a:solidFill>
                  <a:srgbClr val="3A363B"/>
                </a:solidFill>
                <a:latin typeface="Helvetica Neue"/>
              </a:defRPr>
            </a:pPr>
            <a:r>
              <a:t>Connect</a:t>
            </a:r>
          </a:p>
        </p:txBody>
      </p:sp>
      <p:sp>
        <p:nvSpPr>
          <p:cNvPr id="19" name="TextBox 18"/>
          <p:cNvSpPr txBox="1"/>
          <p:nvPr/>
        </p:nvSpPr>
        <p:spPr>
          <a:xfrm>
            <a:off x="9052559" y="3291840"/>
            <a:ext cx="2011680" cy="2011680"/>
          </a:xfrm>
          <a:prstGeom prst="rect">
            <a:avLst/>
          </a:prstGeom>
          <a:noFill/>
        </p:spPr>
        <p:txBody>
          <a:bodyPr wrap="square">
            <a:spAutoFit/>
          </a:bodyPr>
          <a:lstStyle/>
          <a:p>
            <a:pPr algn="ctr">
              <a:defRPr sz="1400" b="0">
                <a:solidFill>
                  <a:srgbClr val="6B666A"/>
                </a:solidFill>
                <a:latin typeface="Helvetica Neue"/>
              </a:defRPr>
            </a:pPr>
            <a:r>
              <a:t>Community features, friend check-ins, shared experiences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914400" y="731520"/>
            <a:ext cx="1828800" cy="38100"/>
          </a:xfrm>
          <a:prstGeom prst="rect">
            <a:avLst/>
          </a:prstGeom>
          <a:solidFill>
            <a:srgbClr val="89A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058400" cy="640080"/>
          </a:xfrm>
          <a:prstGeom prst="rect">
            <a:avLst/>
          </a:prstGeom>
          <a:noFill/>
        </p:spPr>
        <p:txBody>
          <a:bodyPr wrap="square">
            <a:spAutoFit/>
          </a:bodyPr>
          <a:lstStyle/>
          <a:p>
            <a:pPr algn="l">
              <a:defRPr sz="3600" b="1">
                <a:solidFill>
                  <a:srgbClr val="3A363B"/>
                </a:solidFill>
                <a:latin typeface="Helvetica Neue"/>
              </a:defRPr>
            </a:pPr>
            <a:r>
              <a:t>Technology Architecture</a:t>
            </a:r>
          </a:p>
        </p:txBody>
      </p:sp>
      <p:sp>
        <p:nvSpPr>
          <p:cNvPr id="4" name="TextBox 3"/>
          <p:cNvSpPr txBox="1"/>
          <p:nvPr/>
        </p:nvSpPr>
        <p:spPr>
          <a:xfrm>
            <a:off x="914400" y="1828800"/>
            <a:ext cx="2286000" cy="365760"/>
          </a:xfrm>
          <a:prstGeom prst="rect">
            <a:avLst/>
          </a:prstGeom>
          <a:noFill/>
        </p:spPr>
        <p:txBody>
          <a:bodyPr wrap="square">
            <a:spAutoFit/>
          </a:bodyPr>
          <a:lstStyle/>
          <a:p>
            <a:pPr algn="l">
              <a:defRPr sz="1600" b="1">
                <a:solidFill>
                  <a:srgbClr val="89AFC8"/>
                </a:solidFill>
                <a:latin typeface="Helvetica Neue"/>
              </a:defRPr>
            </a:pPr>
            <a:r>
              <a:t>SwiftUI</a:t>
            </a:r>
          </a:p>
        </p:txBody>
      </p:sp>
      <p:sp>
        <p:nvSpPr>
          <p:cNvPr id="5" name="TextBox 4"/>
          <p:cNvSpPr txBox="1"/>
          <p:nvPr/>
        </p:nvSpPr>
        <p:spPr>
          <a:xfrm>
            <a:off x="3474720" y="1828800"/>
            <a:ext cx="7315200" cy="640080"/>
          </a:xfrm>
          <a:prstGeom prst="rect">
            <a:avLst/>
          </a:prstGeom>
          <a:noFill/>
        </p:spPr>
        <p:txBody>
          <a:bodyPr wrap="square">
            <a:spAutoFit/>
          </a:bodyPr>
          <a:lstStyle/>
          <a:p>
            <a:pPr algn="l">
              <a:defRPr sz="1400" b="0">
                <a:solidFill>
                  <a:srgbClr val="6B666A"/>
                </a:solidFill>
                <a:latin typeface="Helvetica Neue"/>
              </a:defRPr>
            </a:pPr>
            <a:r>
              <a:t>Declarative UI framework — reactive state management with @Observable, @State, and @Bindable for real-time UI updates</a:t>
            </a:r>
          </a:p>
        </p:txBody>
      </p:sp>
      <p:sp>
        <p:nvSpPr>
          <p:cNvPr id="6" name="TextBox 5"/>
          <p:cNvSpPr txBox="1"/>
          <p:nvPr/>
        </p:nvSpPr>
        <p:spPr>
          <a:xfrm>
            <a:off x="914400" y="2606040"/>
            <a:ext cx="2286000" cy="365760"/>
          </a:xfrm>
          <a:prstGeom prst="rect">
            <a:avLst/>
          </a:prstGeom>
          <a:noFill/>
        </p:spPr>
        <p:txBody>
          <a:bodyPr wrap="square">
            <a:spAutoFit/>
          </a:bodyPr>
          <a:lstStyle/>
          <a:p>
            <a:pPr algn="l">
              <a:defRPr sz="1600" b="1">
                <a:solidFill>
                  <a:srgbClr val="89AFC8"/>
                </a:solidFill>
                <a:latin typeface="Helvetica Neue"/>
              </a:defRPr>
            </a:pPr>
            <a:r>
              <a:t>AVAudioEngine</a:t>
            </a:r>
          </a:p>
        </p:txBody>
      </p:sp>
      <p:sp>
        <p:nvSpPr>
          <p:cNvPr id="7" name="TextBox 6"/>
          <p:cNvSpPr txBox="1"/>
          <p:nvPr/>
        </p:nvSpPr>
        <p:spPr>
          <a:xfrm>
            <a:off x="3474720" y="2606040"/>
            <a:ext cx="7315200" cy="640080"/>
          </a:xfrm>
          <a:prstGeom prst="rect">
            <a:avLst/>
          </a:prstGeom>
          <a:noFill/>
        </p:spPr>
        <p:txBody>
          <a:bodyPr wrap="square">
            <a:spAutoFit/>
          </a:bodyPr>
          <a:lstStyle/>
          <a:p>
            <a:pPr algn="l">
              <a:defRPr sz="1400" b="0">
                <a:solidFill>
                  <a:srgbClr val="6B666A"/>
                </a:solidFill>
                <a:latin typeface="Helvetica Neue"/>
              </a:defRPr>
            </a:pPr>
            <a:r>
              <a:t>Core Audio framework for real-time sound synthesis — generates ambient tones, binaural beats, and bell chimes from raw sine waves on the audio thread</a:t>
            </a:r>
          </a:p>
        </p:txBody>
      </p:sp>
      <p:sp>
        <p:nvSpPr>
          <p:cNvPr id="8" name="TextBox 7"/>
          <p:cNvSpPr txBox="1"/>
          <p:nvPr/>
        </p:nvSpPr>
        <p:spPr>
          <a:xfrm>
            <a:off x="914400" y="3383280"/>
            <a:ext cx="2286000" cy="365760"/>
          </a:xfrm>
          <a:prstGeom prst="rect">
            <a:avLst/>
          </a:prstGeom>
          <a:noFill/>
        </p:spPr>
        <p:txBody>
          <a:bodyPr wrap="square">
            <a:spAutoFit/>
          </a:bodyPr>
          <a:lstStyle/>
          <a:p>
            <a:pPr algn="l">
              <a:defRPr sz="1600" b="1">
                <a:solidFill>
                  <a:srgbClr val="89AFC8"/>
                </a:solidFill>
                <a:latin typeface="Helvetica Neue"/>
              </a:defRPr>
            </a:pPr>
            <a:r>
              <a:t>Structured Concurrency</a:t>
            </a:r>
          </a:p>
        </p:txBody>
      </p:sp>
      <p:sp>
        <p:nvSpPr>
          <p:cNvPr id="9" name="TextBox 8"/>
          <p:cNvSpPr txBox="1"/>
          <p:nvPr/>
        </p:nvSpPr>
        <p:spPr>
          <a:xfrm>
            <a:off x="3474720" y="3383280"/>
            <a:ext cx="7315200" cy="640080"/>
          </a:xfrm>
          <a:prstGeom prst="rect">
            <a:avLst/>
          </a:prstGeom>
          <a:noFill/>
        </p:spPr>
        <p:txBody>
          <a:bodyPr wrap="square">
            <a:spAutoFit/>
          </a:bodyPr>
          <a:lstStyle/>
          <a:p>
            <a:pPr algn="l">
              <a:defRPr sz="1400" b="0">
                <a:solidFill>
                  <a:srgbClr val="6B666A"/>
                </a:solidFill>
                <a:latin typeface="Helvetica Neue"/>
              </a:defRPr>
            </a:pPr>
            <a:r>
              <a:t>Swift async/await for breathing timers, API calls, and task cancellation — no memory leaks or orphaned processes</a:t>
            </a:r>
          </a:p>
        </p:txBody>
      </p:sp>
      <p:sp>
        <p:nvSpPr>
          <p:cNvPr id="10" name="TextBox 9"/>
          <p:cNvSpPr txBox="1"/>
          <p:nvPr/>
        </p:nvSpPr>
        <p:spPr>
          <a:xfrm>
            <a:off x="914400" y="4160520"/>
            <a:ext cx="2286000" cy="365760"/>
          </a:xfrm>
          <a:prstGeom prst="rect">
            <a:avLst/>
          </a:prstGeom>
          <a:noFill/>
        </p:spPr>
        <p:txBody>
          <a:bodyPr wrap="square">
            <a:spAutoFit/>
          </a:bodyPr>
          <a:lstStyle/>
          <a:p>
            <a:pPr algn="l">
              <a:defRPr sz="1600" b="1">
                <a:solidFill>
                  <a:srgbClr val="89AFC8"/>
                </a:solidFill>
                <a:latin typeface="Helvetica Neue"/>
              </a:defRPr>
            </a:pPr>
            <a:r>
              <a:t>Custom Layout Protocol</a:t>
            </a:r>
          </a:p>
        </p:txBody>
      </p:sp>
      <p:sp>
        <p:nvSpPr>
          <p:cNvPr id="11" name="TextBox 10"/>
          <p:cNvSpPr txBox="1"/>
          <p:nvPr/>
        </p:nvSpPr>
        <p:spPr>
          <a:xfrm>
            <a:off x="3474720" y="4160520"/>
            <a:ext cx="7315200" cy="640080"/>
          </a:xfrm>
          <a:prstGeom prst="rect">
            <a:avLst/>
          </a:prstGeom>
          <a:noFill/>
        </p:spPr>
        <p:txBody>
          <a:bodyPr wrap="square">
            <a:spAutoFit/>
          </a:bodyPr>
          <a:lstStyle/>
          <a:p>
            <a:pPr algn="l">
              <a:defRPr sz="1400" b="0">
                <a:solidFill>
                  <a:srgbClr val="6B666A"/>
                </a:solidFill>
                <a:latin typeface="Helvetica Neue"/>
              </a:defRPr>
            </a:pPr>
            <a:r>
              <a:t>FlowLayout for responsive word-tag wrapping, similar to CSS flexbox</a:t>
            </a:r>
          </a:p>
        </p:txBody>
      </p:sp>
      <p:sp>
        <p:nvSpPr>
          <p:cNvPr id="12" name="TextBox 11"/>
          <p:cNvSpPr txBox="1"/>
          <p:nvPr/>
        </p:nvSpPr>
        <p:spPr>
          <a:xfrm>
            <a:off x="914400" y="4937760"/>
            <a:ext cx="2286000" cy="365760"/>
          </a:xfrm>
          <a:prstGeom prst="rect">
            <a:avLst/>
          </a:prstGeom>
          <a:noFill/>
        </p:spPr>
        <p:txBody>
          <a:bodyPr wrap="square">
            <a:spAutoFit/>
          </a:bodyPr>
          <a:lstStyle/>
          <a:p>
            <a:pPr algn="l">
              <a:defRPr sz="1600" b="1">
                <a:solidFill>
                  <a:srgbClr val="89AFC8"/>
                </a:solidFill>
                <a:latin typeface="Helvetica Neue"/>
              </a:defRPr>
            </a:pPr>
            <a:r>
              <a:t>REST API Integration</a:t>
            </a:r>
          </a:p>
        </p:txBody>
      </p:sp>
      <p:sp>
        <p:nvSpPr>
          <p:cNvPr id="13" name="TextBox 12"/>
          <p:cNvSpPr txBox="1"/>
          <p:nvPr/>
        </p:nvSpPr>
        <p:spPr>
          <a:xfrm>
            <a:off x="3474720" y="4937760"/>
            <a:ext cx="7315200" cy="640080"/>
          </a:xfrm>
          <a:prstGeom prst="rect">
            <a:avLst/>
          </a:prstGeom>
          <a:noFill/>
        </p:spPr>
        <p:txBody>
          <a:bodyPr wrap="square">
            <a:spAutoFit/>
          </a:bodyPr>
          <a:lstStyle/>
          <a:p>
            <a:pPr algn="l">
              <a:defRPr sz="1400" b="0">
                <a:solidFill>
                  <a:srgbClr val="6B666A"/>
                </a:solidFill>
                <a:latin typeface="Helvetica Neue"/>
              </a:defRPr>
            </a:pPr>
            <a:r>
              <a:t>Live daily quotes from ZenQuotes API with graceful fallback on failure</a:t>
            </a:r>
          </a:p>
        </p:txBody>
      </p:sp>
      <p:sp>
        <p:nvSpPr>
          <p:cNvPr id="14" name="TextBox 13"/>
          <p:cNvSpPr txBox="1"/>
          <p:nvPr/>
        </p:nvSpPr>
        <p:spPr>
          <a:xfrm>
            <a:off x="914400" y="5715000"/>
            <a:ext cx="2286000" cy="365760"/>
          </a:xfrm>
          <a:prstGeom prst="rect">
            <a:avLst/>
          </a:prstGeom>
          <a:noFill/>
        </p:spPr>
        <p:txBody>
          <a:bodyPr wrap="square">
            <a:spAutoFit/>
          </a:bodyPr>
          <a:lstStyle/>
          <a:p>
            <a:pPr algn="l">
              <a:defRPr sz="1600" b="1">
                <a:solidFill>
                  <a:srgbClr val="89AFC8"/>
                </a:solidFill>
                <a:latin typeface="Helvetica Neue"/>
              </a:defRPr>
            </a:pPr>
            <a:r>
              <a:t>Audio-Thread Safety</a:t>
            </a:r>
          </a:p>
        </p:txBody>
      </p:sp>
      <p:sp>
        <p:nvSpPr>
          <p:cNvPr id="15" name="TextBox 14"/>
          <p:cNvSpPr txBox="1"/>
          <p:nvPr/>
        </p:nvSpPr>
        <p:spPr>
          <a:xfrm>
            <a:off x="3474720" y="5715000"/>
            <a:ext cx="7315200" cy="640080"/>
          </a:xfrm>
          <a:prstGeom prst="rect">
            <a:avLst/>
          </a:prstGeom>
          <a:noFill/>
        </p:spPr>
        <p:txBody>
          <a:bodyPr wrap="square">
            <a:spAutoFit/>
          </a:bodyPr>
          <a:lstStyle/>
          <a:p>
            <a:pPr algn="l">
              <a:defRPr sz="1400" b="0">
                <a:solidFill>
                  <a:srgbClr val="6B666A"/>
                </a:solidFill>
                <a:latin typeface="Helvetica Neue"/>
              </a:defRPr>
            </a:pPr>
            <a:r>
              <a:t>Lock-free render state pattern using @unchecked Sendable for real-time audio without blocking the main thread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914400" y="731520"/>
            <a:ext cx="1828800" cy="38100"/>
          </a:xfrm>
          <a:prstGeom prst="rect">
            <a:avLst/>
          </a:prstGeom>
          <a:solidFill>
            <a:srgbClr val="9B8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058400" cy="640080"/>
          </a:xfrm>
          <a:prstGeom prst="rect">
            <a:avLst/>
          </a:prstGeom>
          <a:noFill/>
        </p:spPr>
        <p:txBody>
          <a:bodyPr wrap="square">
            <a:spAutoFit/>
          </a:bodyPr>
          <a:lstStyle/>
          <a:p>
            <a:pPr algn="l">
              <a:defRPr sz="3600" b="1">
                <a:solidFill>
                  <a:srgbClr val="3A363B"/>
                </a:solidFill>
                <a:latin typeface="Helvetica Neue"/>
              </a:defRPr>
            </a:pPr>
            <a:r>
              <a:t>Competitive Landscape</a:t>
            </a:r>
          </a:p>
        </p:txBody>
      </p:sp>
      <p:sp>
        <p:nvSpPr>
          <p:cNvPr id="4" name="TextBox 3"/>
          <p:cNvSpPr txBox="1"/>
          <p:nvPr/>
        </p:nvSpPr>
        <p:spPr>
          <a:xfrm>
            <a:off x="914400" y="2011680"/>
            <a:ext cx="2286000" cy="365760"/>
          </a:xfrm>
          <a:prstGeom prst="rect">
            <a:avLst/>
          </a:prstGeom>
          <a:noFill/>
        </p:spPr>
        <p:txBody>
          <a:bodyPr wrap="square">
            <a:spAutoFit/>
          </a:bodyPr>
          <a:lstStyle/>
          <a:p>
            <a:pPr algn="ctr">
              <a:defRPr sz="1400" b="1">
                <a:solidFill>
                  <a:srgbClr val="6B666A"/>
                </a:solidFill>
                <a:latin typeface="Helvetica Neue"/>
              </a:defRPr>
            </a:pPr>
            <a:r>
              <a:t>Feature</a:t>
            </a:r>
          </a:p>
        </p:txBody>
      </p:sp>
      <p:sp>
        <p:nvSpPr>
          <p:cNvPr id="5" name="TextBox 4"/>
          <p:cNvSpPr txBox="1"/>
          <p:nvPr/>
        </p:nvSpPr>
        <p:spPr>
          <a:xfrm>
            <a:off x="3200400" y="2011680"/>
            <a:ext cx="1645920" cy="365760"/>
          </a:xfrm>
          <a:prstGeom prst="rect">
            <a:avLst/>
          </a:prstGeom>
          <a:noFill/>
        </p:spPr>
        <p:txBody>
          <a:bodyPr wrap="square">
            <a:spAutoFit/>
          </a:bodyPr>
          <a:lstStyle/>
          <a:p>
            <a:pPr algn="ctr">
              <a:defRPr sz="1400" b="1">
                <a:solidFill>
                  <a:srgbClr val="6B666A"/>
                </a:solidFill>
                <a:latin typeface="Helvetica Neue"/>
              </a:defRPr>
            </a:pPr>
            <a:r>
              <a:t>Calm</a:t>
            </a:r>
          </a:p>
        </p:txBody>
      </p:sp>
      <p:sp>
        <p:nvSpPr>
          <p:cNvPr id="6" name="TextBox 5"/>
          <p:cNvSpPr txBox="1"/>
          <p:nvPr/>
        </p:nvSpPr>
        <p:spPr>
          <a:xfrm>
            <a:off x="4846320" y="2011680"/>
            <a:ext cx="1645920" cy="365760"/>
          </a:xfrm>
          <a:prstGeom prst="rect">
            <a:avLst/>
          </a:prstGeom>
          <a:noFill/>
        </p:spPr>
        <p:txBody>
          <a:bodyPr wrap="square">
            <a:spAutoFit/>
          </a:bodyPr>
          <a:lstStyle/>
          <a:p>
            <a:pPr algn="ctr">
              <a:defRPr sz="1400" b="1">
                <a:solidFill>
                  <a:srgbClr val="6B666A"/>
                </a:solidFill>
                <a:latin typeface="Helvetica Neue"/>
              </a:defRPr>
            </a:pPr>
            <a:r>
              <a:t>Headspace</a:t>
            </a:r>
          </a:p>
        </p:txBody>
      </p:sp>
      <p:sp>
        <p:nvSpPr>
          <p:cNvPr id="7" name="TextBox 6"/>
          <p:cNvSpPr txBox="1"/>
          <p:nvPr/>
        </p:nvSpPr>
        <p:spPr>
          <a:xfrm>
            <a:off x="6492240" y="2011680"/>
            <a:ext cx="1645920" cy="365760"/>
          </a:xfrm>
          <a:prstGeom prst="rect">
            <a:avLst/>
          </a:prstGeom>
          <a:noFill/>
        </p:spPr>
        <p:txBody>
          <a:bodyPr wrap="square">
            <a:spAutoFit/>
          </a:bodyPr>
          <a:lstStyle/>
          <a:p>
            <a:pPr algn="ctr">
              <a:defRPr sz="1400" b="1">
                <a:solidFill>
                  <a:srgbClr val="6B666A"/>
                </a:solidFill>
                <a:latin typeface="Helvetica Neue"/>
              </a:defRPr>
            </a:pPr>
            <a:r>
              <a:t>Endel</a:t>
            </a:r>
          </a:p>
        </p:txBody>
      </p:sp>
      <p:sp>
        <p:nvSpPr>
          <p:cNvPr id="8" name="TextBox 7"/>
          <p:cNvSpPr txBox="1"/>
          <p:nvPr/>
        </p:nvSpPr>
        <p:spPr>
          <a:xfrm>
            <a:off x="8138160" y="2011680"/>
            <a:ext cx="1828800" cy="365760"/>
          </a:xfrm>
          <a:prstGeom prst="rect">
            <a:avLst/>
          </a:prstGeom>
          <a:noFill/>
        </p:spPr>
        <p:txBody>
          <a:bodyPr wrap="square">
            <a:spAutoFit/>
          </a:bodyPr>
          <a:lstStyle/>
          <a:p>
            <a:pPr algn="ctr">
              <a:defRPr sz="1400" b="1">
                <a:solidFill>
                  <a:srgbClr val="D4B483"/>
                </a:solidFill>
                <a:latin typeface="Helvetica Neue"/>
              </a:defRPr>
            </a:pPr>
            <a:r>
              <a:t>Resonance</a:t>
            </a:r>
          </a:p>
        </p:txBody>
      </p:sp>
      <p:sp>
        <p:nvSpPr>
          <p:cNvPr id="9" name="Rounded Rectangle 8"/>
          <p:cNvSpPr/>
          <p:nvPr/>
        </p:nvSpPr>
        <p:spPr>
          <a:xfrm>
            <a:off x="914400" y="2468880"/>
            <a:ext cx="9235440" cy="438912"/>
          </a:xfrm>
          <a:prstGeom prst="roundRect">
            <a:avLst/>
          </a:prstGeom>
          <a:solidFill>
            <a:srgbClr val="F2EFE9"/>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514600"/>
            <a:ext cx="2103120" cy="347472"/>
          </a:xfrm>
          <a:prstGeom prst="rect">
            <a:avLst/>
          </a:prstGeom>
          <a:noFill/>
        </p:spPr>
        <p:txBody>
          <a:bodyPr wrap="square">
            <a:spAutoFit/>
          </a:bodyPr>
          <a:lstStyle/>
          <a:p>
            <a:pPr algn="l">
              <a:defRPr sz="1300" b="0">
                <a:solidFill>
                  <a:srgbClr val="6B666A"/>
                </a:solidFill>
                <a:latin typeface="Helvetica Neue"/>
              </a:defRPr>
            </a:pPr>
            <a:r>
              <a:t>Real-time audio synthesis</a:t>
            </a:r>
          </a:p>
        </p:txBody>
      </p:sp>
      <p:sp>
        <p:nvSpPr>
          <p:cNvPr id="11" name="TextBox 10"/>
          <p:cNvSpPr txBox="1"/>
          <p:nvPr/>
        </p:nvSpPr>
        <p:spPr>
          <a:xfrm>
            <a:off x="3200400" y="2514600"/>
            <a:ext cx="1645920" cy="347472"/>
          </a:xfrm>
          <a:prstGeom prst="rect">
            <a:avLst/>
          </a:prstGeom>
          <a:noFill/>
        </p:spPr>
        <p:txBody>
          <a:bodyPr wrap="square">
            <a:spAutoFit/>
          </a:bodyPr>
          <a:lstStyle/>
          <a:p>
            <a:pPr algn="ctr">
              <a:defRPr sz="1600" b="0">
                <a:solidFill>
                  <a:srgbClr val="9E9997"/>
                </a:solidFill>
                <a:latin typeface="Helvetica Neue"/>
              </a:defRPr>
            </a:pPr>
            <a:r>
              <a:t>✗</a:t>
            </a:r>
          </a:p>
        </p:txBody>
      </p:sp>
      <p:sp>
        <p:nvSpPr>
          <p:cNvPr id="12" name="TextBox 11"/>
          <p:cNvSpPr txBox="1"/>
          <p:nvPr/>
        </p:nvSpPr>
        <p:spPr>
          <a:xfrm>
            <a:off x="4846320" y="2514600"/>
            <a:ext cx="1645920" cy="347472"/>
          </a:xfrm>
          <a:prstGeom prst="rect">
            <a:avLst/>
          </a:prstGeom>
          <a:noFill/>
        </p:spPr>
        <p:txBody>
          <a:bodyPr wrap="square">
            <a:spAutoFit/>
          </a:bodyPr>
          <a:lstStyle/>
          <a:p>
            <a:pPr algn="ctr">
              <a:defRPr sz="1600" b="0">
                <a:solidFill>
                  <a:srgbClr val="9E9997"/>
                </a:solidFill>
                <a:latin typeface="Helvetica Neue"/>
              </a:defRPr>
            </a:pPr>
            <a:r>
              <a:t>✗</a:t>
            </a:r>
          </a:p>
        </p:txBody>
      </p:sp>
      <p:sp>
        <p:nvSpPr>
          <p:cNvPr id="13" name="TextBox 12"/>
          <p:cNvSpPr txBox="1"/>
          <p:nvPr/>
        </p:nvSpPr>
        <p:spPr>
          <a:xfrm>
            <a:off x="6492240" y="2514600"/>
            <a:ext cx="1645920" cy="347472"/>
          </a:xfrm>
          <a:prstGeom prst="rect">
            <a:avLst/>
          </a:prstGeom>
          <a:noFill/>
        </p:spPr>
        <p:txBody>
          <a:bodyPr wrap="square">
            <a:spAutoFit/>
          </a:bodyPr>
          <a:lstStyle/>
          <a:p>
            <a:pPr algn="ctr">
              <a:defRPr sz="1600" b="0">
                <a:solidFill>
                  <a:srgbClr val="7EB58E"/>
                </a:solidFill>
                <a:latin typeface="Helvetica Neue"/>
              </a:defRPr>
            </a:pPr>
            <a:r>
              <a:t>✓</a:t>
            </a:r>
          </a:p>
        </p:txBody>
      </p:sp>
      <p:sp>
        <p:nvSpPr>
          <p:cNvPr id="14" name="TextBox 13"/>
          <p:cNvSpPr txBox="1"/>
          <p:nvPr/>
        </p:nvSpPr>
        <p:spPr>
          <a:xfrm>
            <a:off x="8138160" y="2514600"/>
            <a:ext cx="1645920" cy="347472"/>
          </a:xfrm>
          <a:prstGeom prst="rect">
            <a:avLst/>
          </a:prstGeom>
          <a:noFill/>
        </p:spPr>
        <p:txBody>
          <a:bodyPr wrap="square">
            <a:spAutoFit/>
          </a:bodyPr>
          <a:lstStyle/>
          <a:p>
            <a:pPr algn="ctr">
              <a:defRPr sz="1600" b="0">
                <a:solidFill>
                  <a:srgbClr val="D4B483"/>
                </a:solidFill>
                <a:latin typeface="Helvetica Neue"/>
              </a:defRPr>
            </a:pPr>
            <a:r>
              <a:t>✓</a:t>
            </a:r>
          </a:p>
        </p:txBody>
      </p:sp>
      <p:sp>
        <p:nvSpPr>
          <p:cNvPr id="15" name="Rounded Rectangle 14"/>
          <p:cNvSpPr/>
          <p:nvPr/>
        </p:nvSpPr>
        <p:spPr>
          <a:xfrm>
            <a:off x="914400" y="2971800"/>
            <a:ext cx="9235440" cy="438912"/>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3017520"/>
            <a:ext cx="2103120" cy="347472"/>
          </a:xfrm>
          <a:prstGeom prst="rect">
            <a:avLst/>
          </a:prstGeom>
          <a:noFill/>
        </p:spPr>
        <p:txBody>
          <a:bodyPr wrap="square">
            <a:spAutoFit/>
          </a:bodyPr>
          <a:lstStyle/>
          <a:p>
            <a:pPr algn="l">
              <a:defRPr sz="1300" b="0">
                <a:solidFill>
                  <a:srgbClr val="6B666A"/>
                </a:solidFill>
                <a:latin typeface="Helvetica Neue"/>
              </a:defRPr>
            </a:pPr>
            <a:r>
              <a:t>Breath-synced sound</a:t>
            </a:r>
          </a:p>
        </p:txBody>
      </p:sp>
      <p:sp>
        <p:nvSpPr>
          <p:cNvPr id="17" name="TextBox 16"/>
          <p:cNvSpPr txBox="1"/>
          <p:nvPr/>
        </p:nvSpPr>
        <p:spPr>
          <a:xfrm>
            <a:off x="3200400" y="3017520"/>
            <a:ext cx="1645920" cy="347472"/>
          </a:xfrm>
          <a:prstGeom prst="rect">
            <a:avLst/>
          </a:prstGeom>
          <a:noFill/>
        </p:spPr>
        <p:txBody>
          <a:bodyPr wrap="square">
            <a:spAutoFit/>
          </a:bodyPr>
          <a:lstStyle/>
          <a:p>
            <a:pPr algn="ctr">
              <a:defRPr sz="1600" b="0">
                <a:solidFill>
                  <a:srgbClr val="9E9997"/>
                </a:solidFill>
                <a:latin typeface="Helvetica Neue"/>
              </a:defRPr>
            </a:pPr>
            <a:r>
              <a:t>✗</a:t>
            </a:r>
          </a:p>
        </p:txBody>
      </p:sp>
      <p:sp>
        <p:nvSpPr>
          <p:cNvPr id="18" name="TextBox 17"/>
          <p:cNvSpPr txBox="1"/>
          <p:nvPr/>
        </p:nvSpPr>
        <p:spPr>
          <a:xfrm>
            <a:off x="4846320" y="3017520"/>
            <a:ext cx="1645920" cy="347472"/>
          </a:xfrm>
          <a:prstGeom prst="rect">
            <a:avLst/>
          </a:prstGeom>
          <a:noFill/>
        </p:spPr>
        <p:txBody>
          <a:bodyPr wrap="square">
            <a:spAutoFit/>
          </a:bodyPr>
          <a:lstStyle/>
          <a:p>
            <a:pPr algn="ctr">
              <a:defRPr sz="1600" b="0">
                <a:solidFill>
                  <a:srgbClr val="D4B483"/>
                </a:solidFill>
                <a:latin typeface="Helvetica Neue"/>
              </a:defRPr>
            </a:pPr>
            <a:r>
              <a:t>○</a:t>
            </a:r>
          </a:p>
        </p:txBody>
      </p:sp>
      <p:sp>
        <p:nvSpPr>
          <p:cNvPr id="19" name="TextBox 18"/>
          <p:cNvSpPr txBox="1"/>
          <p:nvPr/>
        </p:nvSpPr>
        <p:spPr>
          <a:xfrm>
            <a:off x="6492240" y="3017520"/>
            <a:ext cx="1645920" cy="347472"/>
          </a:xfrm>
          <a:prstGeom prst="rect">
            <a:avLst/>
          </a:prstGeom>
          <a:noFill/>
        </p:spPr>
        <p:txBody>
          <a:bodyPr wrap="square">
            <a:spAutoFit/>
          </a:bodyPr>
          <a:lstStyle/>
          <a:p>
            <a:pPr algn="ctr">
              <a:defRPr sz="1600" b="0">
                <a:solidFill>
                  <a:srgbClr val="D4B483"/>
                </a:solidFill>
                <a:latin typeface="Helvetica Neue"/>
              </a:defRPr>
            </a:pPr>
            <a:r>
              <a:t>○</a:t>
            </a:r>
          </a:p>
        </p:txBody>
      </p:sp>
      <p:sp>
        <p:nvSpPr>
          <p:cNvPr id="20" name="TextBox 19"/>
          <p:cNvSpPr txBox="1"/>
          <p:nvPr/>
        </p:nvSpPr>
        <p:spPr>
          <a:xfrm>
            <a:off x="8138160" y="3017520"/>
            <a:ext cx="1645920" cy="347472"/>
          </a:xfrm>
          <a:prstGeom prst="rect">
            <a:avLst/>
          </a:prstGeom>
          <a:noFill/>
        </p:spPr>
        <p:txBody>
          <a:bodyPr wrap="square">
            <a:spAutoFit/>
          </a:bodyPr>
          <a:lstStyle/>
          <a:p>
            <a:pPr algn="ctr">
              <a:defRPr sz="1600" b="0">
                <a:solidFill>
                  <a:srgbClr val="D4B483"/>
                </a:solidFill>
                <a:latin typeface="Helvetica Neue"/>
              </a:defRPr>
            </a:pPr>
            <a:r>
              <a:t>✓</a:t>
            </a:r>
          </a:p>
        </p:txBody>
      </p:sp>
      <p:sp>
        <p:nvSpPr>
          <p:cNvPr id="21" name="Rounded Rectangle 20"/>
          <p:cNvSpPr/>
          <p:nvPr/>
        </p:nvSpPr>
        <p:spPr>
          <a:xfrm>
            <a:off x="914400" y="3474720"/>
            <a:ext cx="9235440" cy="438912"/>
          </a:xfrm>
          <a:prstGeom prst="roundRect">
            <a:avLst/>
          </a:prstGeom>
          <a:solidFill>
            <a:srgbClr val="F2EFE9"/>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97280" y="3520440"/>
            <a:ext cx="2103120" cy="347472"/>
          </a:xfrm>
          <a:prstGeom prst="rect">
            <a:avLst/>
          </a:prstGeom>
          <a:noFill/>
        </p:spPr>
        <p:txBody>
          <a:bodyPr wrap="square">
            <a:spAutoFit/>
          </a:bodyPr>
          <a:lstStyle/>
          <a:p>
            <a:pPr algn="l">
              <a:defRPr sz="1300" b="0">
                <a:solidFill>
                  <a:srgbClr val="6B666A"/>
                </a:solidFill>
                <a:latin typeface="Helvetica Neue"/>
              </a:defRPr>
            </a:pPr>
            <a:r>
              <a:t>Tap rhythm detection</a:t>
            </a:r>
          </a:p>
        </p:txBody>
      </p:sp>
      <p:sp>
        <p:nvSpPr>
          <p:cNvPr id="23" name="TextBox 22"/>
          <p:cNvSpPr txBox="1"/>
          <p:nvPr/>
        </p:nvSpPr>
        <p:spPr>
          <a:xfrm>
            <a:off x="3200400" y="3520440"/>
            <a:ext cx="1645920" cy="347472"/>
          </a:xfrm>
          <a:prstGeom prst="rect">
            <a:avLst/>
          </a:prstGeom>
          <a:noFill/>
        </p:spPr>
        <p:txBody>
          <a:bodyPr wrap="square">
            <a:spAutoFit/>
          </a:bodyPr>
          <a:lstStyle/>
          <a:p>
            <a:pPr algn="ctr">
              <a:defRPr sz="1600" b="0">
                <a:solidFill>
                  <a:srgbClr val="9E9997"/>
                </a:solidFill>
                <a:latin typeface="Helvetica Neue"/>
              </a:defRPr>
            </a:pPr>
            <a:r>
              <a:t>✗</a:t>
            </a:r>
          </a:p>
        </p:txBody>
      </p:sp>
      <p:sp>
        <p:nvSpPr>
          <p:cNvPr id="24" name="TextBox 23"/>
          <p:cNvSpPr txBox="1"/>
          <p:nvPr/>
        </p:nvSpPr>
        <p:spPr>
          <a:xfrm>
            <a:off x="4846320" y="3520440"/>
            <a:ext cx="1645920" cy="347472"/>
          </a:xfrm>
          <a:prstGeom prst="rect">
            <a:avLst/>
          </a:prstGeom>
          <a:noFill/>
        </p:spPr>
        <p:txBody>
          <a:bodyPr wrap="square">
            <a:spAutoFit/>
          </a:bodyPr>
          <a:lstStyle/>
          <a:p>
            <a:pPr algn="ctr">
              <a:defRPr sz="1600" b="0">
                <a:solidFill>
                  <a:srgbClr val="9E9997"/>
                </a:solidFill>
                <a:latin typeface="Helvetica Neue"/>
              </a:defRPr>
            </a:pPr>
            <a:r>
              <a:t>✗</a:t>
            </a:r>
          </a:p>
        </p:txBody>
      </p:sp>
      <p:sp>
        <p:nvSpPr>
          <p:cNvPr id="25" name="TextBox 24"/>
          <p:cNvSpPr txBox="1"/>
          <p:nvPr/>
        </p:nvSpPr>
        <p:spPr>
          <a:xfrm>
            <a:off x="6492240" y="3520440"/>
            <a:ext cx="1645920" cy="347472"/>
          </a:xfrm>
          <a:prstGeom prst="rect">
            <a:avLst/>
          </a:prstGeom>
          <a:noFill/>
        </p:spPr>
        <p:txBody>
          <a:bodyPr wrap="square">
            <a:spAutoFit/>
          </a:bodyPr>
          <a:lstStyle/>
          <a:p>
            <a:pPr algn="ctr">
              <a:defRPr sz="1600" b="0">
                <a:solidFill>
                  <a:srgbClr val="9E9997"/>
                </a:solidFill>
                <a:latin typeface="Helvetica Neue"/>
              </a:defRPr>
            </a:pPr>
            <a:r>
              <a:t>✗</a:t>
            </a:r>
          </a:p>
        </p:txBody>
      </p:sp>
      <p:sp>
        <p:nvSpPr>
          <p:cNvPr id="26" name="TextBox 25"/>
          <p:cNvSpPr txBox="1"/>
          <p:nvPr/>
        </p:nvSpPr>
        <p:spPr>
          <a:xfrm>
            <a:off x="8138160" y="3520440"/>
            <a:ext cx="1645920" cy="347472"/>
          </a:xfrm>
          <a:prstGeom prst="rect">
            <a:avLst/>
          </a:prstGeom>
          <a:noFill/>
        </p:spPr>
        <p:txBody>
          <a:bodyPr wrap="square">
            <a:spAutoFit/>
          </a:bodyPr>
          <a:lstStyle/>
          <a:p>
            <a:pPr algn="ctr">
              <a:defRPr sz="1600" b="0">
                <a:solidFill>
                  <a:srgbClr val="D4B483"/>
                </a:solidFill>
                <a:latin typeface="Helvetica Neue"/>
              </a:defRPr>
            </a:pPr>
            <a:r>
              <a:t>✓</a:t>
            </a:r>
          </a:p>
        </p:txBody>
      </p:sp>
      <p:sp>
        <p:nvSpPr>
          <p:cNvPr id="27" name="Rounded Rectangle 26"/>
          <p:cNvSpPr/>
          <p:nvPr/>
        </p:nvSpPr>
        <p:spPr>
          <a:xfrm>
            <a:off x="914400" y="3977640"/>
            <a:ext cx="9235440" cy="438912"/>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97280" y="4023360"/>
            <a:ext cx="2103120" cy="347472"/>
          </a:xfrm>
          <a:prstGeom prst="rect">
            <a:avLst/>
          </a:prstGeom>
          <a:noFill/>
        </p:spPr>
        <p:txBody>
          <a:bodyPr wrap="square">
            <a:spAutoFit/>
          </a:bodyPr>
          <a:lstStyle/>
          <a:p>
            <a:pPr algn="l">
              <a:defRPr sz="1300" b="0">
                <a:solidFill>
                  <a:srgbClr val="6B666A"/>
                </a:solidFill>
                <a:latin typeface="Helvetica Neue"/>
              </a:defRPr>
            </a:pPr>
            <a:r>
              <a:t>Mood-to-music mapping</a:t>
            </a:r>
          </a:p>
        </p:txBody>
      </p:sp>
      <p:sp>
        <p:nvSpPr>
          <p:cNvPr id="29" name="TextBox 28"/>
          <p:cNvSpPr txBox="1"/>
          <p:nvPr/>
        </p:nvSpPr>
        <p:spPr>
          <a:xfrm>
            <a:off x="3200400" y="4023360"/>
            <a:ext cx="1645920" cy="347472"/>
          </a:xfrm>
          <a:prstGeom prst="rect">
            <a:avLst/>
          </a:prstGeom>
          <a:noFill/>
        </p:spPr>
        <p:txBody>
          <a:bodyPr wrap="square">
            <a:spAutoFit/>
          </a:bodyPr>
          <a:lstStyle/>
          <a:p>
            <a:pPr algn="ctr">
              <a:defRPr sz="1600" b="0">
                <a:solidFill>
                  <a:srgbClr val="9E9997"/>
                </a:solidFill>
                <a:latin typeface="Helvetica Neue"/>
              </a:defRPr>
            </a:pPr>
            <a:r>
              <a:t>✗</a:t>
            </a:r>
          </a:p>
        </p:txBody>
      </p:sp>
      <p:sp>
        <p:nvSpPr>
          <p:cNvPr id="30" name="TextBox 29"/>
          <p:cNvSpPr txBox="1"/>
          <p:nvPr/>
        </p:nvSpPr>
        <p:spPr>
          <a:xfrm>
            <a:off x="4846320" y="4023360"/>
            <a:ext cx="1645920" cy="347472"/>
          </a:xfrm>
          <a:prstGeom prst="rect">
            <a:avLst/>
          </a:prstGeom>
          <a:noFill/>
        </p:spPr>
        <p:txBody>
          <a:bodyPr wrap="square">
            <a:spAutoFit/>
          </a:bodyPr>
          <a:lstStyle/>
          <a:p>
            <a:pPr algn="ctr">
              <a:defRPr sz="1600" b="0">
                <a:solidFill>
                  <a:srgbClr val="9E9997"/>
                </a:solidFill>
                <a:latin typeface="Helvetica Neue"/>
              </a:defRPr>
            </a:pPr>
            <a:r>
              <a:t>✗</a:t>
            </a:r>
          </a:p>
        </p:txBody>
      </p:sp>
      <p:sp>
        <p:nvSpPr>
          <p:cNvPr id="31" name="TextBox 30"/>
          <p:cNvSpPr txBox="1"/>
          <p:nvPr/>
        </p:nvSpPr>
        <p:spPr>
          <a:xfrm>
            <a:off x="6492240" y="4023360"/>
            <a:ext cx="1645920" cy="347472"/>
          </a:xfrm>
          <a:prstGeom prst="rect">
            <a:avLst/>
          </a:prstGeom>
          <a:noFill/>
        </p:spPr>
        <p:txBody>
          <a:bodyPr wrap="square">
            <a:spAutoFit/>
          </a:bodyPr>
          <a:lstStyle/>
          <a:p>
            <a:pPr algn="ctr">
              <a:defRPr sz="1600" b="0">
                <a:solidFill>
                  <a:srgbClr val="D4B483"/>
                </a:solidFill>
                <a:latin typeface="Helvetica Neue"/>
              </a:defRPr>
            </a:pPr>
            <a:r>
              <a:t>○</a:t>
            </a:r>
          </a:p>
        </p:txBody>
      </p:sp>
      <p:sp>
        <p:nvSpPr>
          <p:cNvPr id="32" name="TextBox 31"/>
          <p:cNvSpPr txBox="1"/>
          <p:nvPr/>
        </p:nvSpPr>
        <p:spPr>
          <a:xfrm>
            <a:off x="8138160" y="4023360"/>
            <a:ext cx="1645920" cy="347472"/>
          </a:xfrm>
          <a:prstGeom prst="rect">
            <a:avLst/>
          </a:prstGeom>
          <a:noFill/>
        </p:spPr>
        <p:txBody>
          <a:bodyPr wrap="square">
            <a:spAutoFit/>
          </a:bodyPr>
          <a:lstStyle/>
          <a:p>
            <a:pPr algn="ctr">
              <a:defRPr sz="1600" b="0">
                <a:solidFill>
                  <a:srgbClr val="D4B483"/>
                </a:solidFill>
                <a:latin typeface="Helvetica Neue"/>
              </a:defRPr>
            </a:pPr>
            <a:r>
              <a:t>✓</a:t>
            </a:r>
          </a:p>
        </p:txBody>
      </p:sp>
      <p:sp>
        <p:nvSpPr>
          <p:cNvPr id="33" name="Rounded Rectangle 32"/>
          <p:cNvSpPr/>
          <p:nvPr/>
        </p:nvSpPr>
        <p:spPr>
          <a:xfrm>
            <a:off x="914400" y="4480560"/>
            <a:ext cx="9235440" cy="438912"/>
          </a:xfrm>
          <a:prstGeom prst="roundRect">
            <a:avLst/>
          </a:prstGeom>
          <a:solidFill>
            <a:srgbClr val="F2EFE9"/>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97280" y="4526280"/>
            <a:ext cx="2103120" cy="347472"/>
          </a:xfrm>
          <a:prstGeom prst="rect">
            <a:avLst/>
          </a:prstGeom>
          <a:noFill/>
        </p:spPr>
        <p:txBody>
          <a:bodyPr wrap="square">
            <a:spAutoFit/>
          </a:bodyPr>
          <a:lstStyle/>
          <a:p>
            <a:pPr algn="l">
              <a:defRPr sz="1300" b="0">
                <a:solidFill>
                  <a:srgbClr val="6B666A"/>
                </a:solidFill>
                <a:latin typeface="Helvetica Neue"/>
              </a:defRPr>
            </a:pPr>
            <a:r>
              <a:t>No subscription required*</a:t>
            </a:r>
          </a:p>
        </p:txBody>
      </p:sp>
      <p:sp>
        <p:nvSpPr>
          <p:cNvPr id="35" name="TextBox 34"/>
          <p:cNvSpPr txBox="1"/>
          <p:nvPr/>
        </p:nvSpPr>
        <p:spPr>
          <a:xfrm>
            <a:off x="3200400" y="4526280"/>
            <a:ext cx="1645920" cy="347472"/>
          </a:xfrm>
          <a:prstGeom prst="rect">
            <a:avLst/>
          </a:prstGeom>
          <a:noFill/>
        </p:spPr>
        <p:txBody>
          <a:bodyPr wrap="square">
            <a:spAutoFit/>
          </a:bodyPr>
          <a:lstStyle/>
          <a:p>
            <a:pPr algn="ctr">
              <a:defRPr sz="1600" b="0">
                <a:solidFill>
                  <a:srgbClr val="9E9997"/>
                </a:solidFill>
                <a:latin typeface="Helvetica Neue"/>
              </a:defRPr>
            </a:pPr>
            <a:r>
              <a:t>✗</a:t>
            </a:r>
          </a:p>
        </p:txBody>
      </p:sp>
      <p:sp>
        <p:nvSpPr>
          <p:cNvPr id="36" name="TextBox 35"/>
          <p:cNvSpPr txBox="1"/>
          <p:nvPr/>
        </p:nvSpPr>
        <p:spPr>
          <a:xfrm>
            <a:off x="4846320" y="4526280"/>
            <a:ext cx="1645920" cy="347472"/>
          </a:xfrm>
          <a:prstGeom prst="rect">
            <a:avLst/>
          </a:prstGeom>
          <a:noFill/>
        </p:spPr>
        <p:txBody>
          <a:bodyPr wrap="square">
            <a:spAutoFit/>
          </a:bodyPr>
          <a:lstStyle/>
          <a:p>
            <a:pPr algn="ctr">
              <a:defRPr sz="1600" b="0">
                <a:solidFill>
                  <a:srgbClr val="9E9997"/>
                </a:solidFill>
                <a:latin typeface="Helvetica Neue"/>
              </a:defRPr>
            </a:pPr>
            <a:r>
              <a:t>✗</a:t>
            </a:r>
          </a:p>
        </p:txBody>
      </p:sp>
      <p:sp>
        <p:nvSpPr>
          <p:cNvPr id="37" name="TextBox 36"/>
          <p:cNvSpPr txBox="1"/>
          <p:nvPr/>
        </p:nvSpPr>
        <p:spPr>
          <a:xfrm>
            <a:off x="6492240" y="4526280"/>
            <a:ext cx="1645920" cy="347472"/>
          </a:xfrm>
          <a:prstGeom prst="rect">
            <a:avLst/>
          </a:prstGeom>
          <a:noFill/>
        </p:spPr>
        <p:txBody>
          <a:bodyPr wrap="square">
            <a:spAutoFit/>
          </a:bodyPr>
          <a:lstStyle/>
          <a:p>
            <a:pPr algn="ctr">
              <a:defRPr sz="1600" b="0">
                <a:solidFill>
                  <a:srgbClr val="9E9997"/>
                </a:solidFill>
                <a:latin typeface="Helvetica Neue"/>
              </a:defRPr>
            </a:pPr>
            <a:r>
              <a:t>✗</a:t>
            </a:r>
          </a:p>
        </p:txBody>
      </p:sp>
      <p:sp>
        <p:nvSpPr>
          <p:cNvPr id="38" name="TextBox 37"/>
          <p:cNvSpPr txBox="1"/>
          <p:nvPr/>
        </p:nvSpPr>
        <p:spPr>
          <a:xfrm>
            <a:off x="8138160" y="4526280"/>
            <a:ext cx="1645920" cy="347472"/>
          </a:xfrm>
          <a:prstGeom prst="rect">
            <a:avLst/>
          </a:prstGeom>
          <a:noFill/>
        </p:spPr>
        <p:txBody>
          <a:bodyPr wrap="square">
            <a:spAutoFit/>
          </a:bodyPr>
          <a:lstStyle/>
          <a:p>
            <a:pPr algn="ctr">
              <a:defRPr sz="1600" b="0">
                <a:solidFill>
                  <a:srgbClr val="D4B483"/>
                </a:solidFill>
                <a:latin typeface="Helvetica Neue"/>
              </a:defRPr>
            </a:pPr>
            <a:r>
              <a:t>✓</a:t>
            </a:r>
          </a:p>
        </p:txBody>
      </p:sp>
      <p:sp>
        <p:nvSpPr>
          <p:cNvPr id="39" name="Rounded Rectangle 38"/>
          <p:cNvSpPr/>
          <p:nvPr/>
        </p:nvSpPr>
        <p:spPr>
          <a:xfrm>
            <a:off x="914400" y="4983480"/>
            <a:ext cx="9235440" cy="438912"/>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97280" y="5029200"/>
            <a:ext cx="2103120" cy="347472"/>
          </a:xfrm>
          <a:prstGeom prst="rect">
            <a:avLst/>
          </a:prstGeom>
          <a:noFill/>
        </p:spPr>
        <p:txBody>
          <a:bodyPr wrap="square">
            <a:spAutoFit/>
          </a:bodyPr>
          <a:lstStyle/>
          <a:p>
            <a:pPr algn="l">
              <a:defRPr sz="1300" b="0">
                <a:solidFill>
                  <a:srgbClr val="6B666A"/>
                </a:solidFill>
                <a:latin typeface="Helvetica Neue"/>
              </a:defRPr>
            </a:pPr>
            <a:r>
              <a:t>Binaural beat generation</a:t>
            </a:r>
          </a:p>
        </p:txBody>
      </p:sp>
      <p:sp>
        <p:nvSpPr>
          <p:cNvPr id="41" name="TextBox 40"/>
          <p:cNvSpPr txBox="1"/>
          <p:nvPr/>
        </p:nvSpPr>
        <p:spPr>
          <a:xfrm>
            <a:off x="3200400" y="5029200"/>
            <a:ext cx="1645920" cy="347472"/>
          </a:xfrm>
          <a:prstGeom prst="rect">
            <a:avLst/>
          </a:prstGeom>
          <a:noFill/>
        </p:spPr>
        <p:txBody>
          <a:bodyPr wrap="square">
            <a:spAutoFit/>
          </a:bodyPr>
          <a:lstStyle/>
          <a:p>
            <a:pPr algn="ctr">
              <a:defRPr sz="1600" b="0">
                <a:solidFill>
                  <a:srgbClr val="9E9997"/>
                </a:solidFill>
                <a:latin typeface="Helvetica Neue"/>
              </a:defRPr>
            </a:pPr>
            <a:r>
              <a:t>✗</a:t>
            </a:r>
          </a:p>
        </p:txBody>
      </p:sp>
      <p:sp>
        <p:nvSpPr>
          <p:cNvPr id="42" name="TextBox 41"/>
          <p:cNvSpPr txBox="1"/>
          <p:nvPr/>
        </p:nvSpPr>
        <p:spPr>
          <a:xfrm>
            <a:off x="4846320" y="5029200"/>
            <a:ext cx="1645920" cy="347472"/>
          </a:xfrm>
          <a:prstGeom prst="rect">
            <a:avLst/>
          </a:prstGeom>
          <a:noFill/>
        </p:spPr>
        <p:txBody>
          <a:bodyPr wrap="square">
            <a:spAutoFit/>
          </a:bodyPr>
          <a:lstStyle/>
          <a:p>
            <a:pPr algn="ctr">
              <a:defRPr sz="1600" b="0">
                <a:solidFill>
                  <a:srgbClr val="9E9997"/>
                </a:solidFill>
                <a:latin typeface="Helvetica Neue"/>
              </a:defRPr>
            </a:pPr>
            <a:r>
              <a:t>✗</a:t>
            </a:r>
          </a:p>
        </p:txBody>
      </p:sp>
      <p:sp>
        <p:nvSpPr>
          <p:cNvPr id="43" name="TextBox 42"/>
          <p:cNvSpPr txBox="1"/>
          <p:nvPr/>
        </p:nvSpPr>
        <p:spPr>
          <a:xfrm>
            <a:off x="6492240" y="5029200"/>
            <a:ext cx="1645920" cy="347472"/>
          </a:xfrm>
          <a:prstGeom prst="rect">
            <a:avLst/>
          </a:prstGeom>
          <a:noFill/>
        </p:spPr>
        <p:txBody>
          <a:bodyPr wrap="square">
            <a:spAutoFit/>
          </a:bodyPr>
          <a:lstStyle/>
          <a:p>
            <a:pPr algn="ctr">
              <a:defRPr sz="1600" b="0">
                <a:solidFill>
                  <a:srgbClr val="7EB58E"/>
                </a:solidFill>
                <a:latin typeface="Helvetica Neue"/>
              </a:defRPr>
            </a:pPr>
            <a:r>
              <a:t>✓</a:t>
            </a:r>
          </a:p>
        </p:txBody>
      </p:sp>
      <p:sp>
        <p:nvSpPr>
          <p:cNvPr id="44" name="TextBox 43"/>
          <p:cNvSpPr txBox="1"/>
          <p:nvPr/>
        </p:nvSpPr>
        <p:spPr>
          <a:xfrm>
            <a:off x="8138160" y="5029200"/>
            <a:ext cx="1645920" cy="347472"/>
          </a:xfrm>
          <a:prstGeom prst="rect">
            <a:avLst/>
          </a:prstGeom>
          <a:noFill/>
        </p:spPr>
        <p:txBody>
          <a:bodyPr wrap="square">
            <a:spAutoFit/>
          </a:bodyPr>
          <a:lstStyle/>
          <a:p>
            <a:pPr algn="ctr">
              <a:defRPr sz="1600" b="0">
                <a:solidFill>
                  <a:srgbClr val="D4B483"/>
                </a:solidFill>
                <a:latin typeface="Helvetica Neue"/>
              </a:defRPr>
            </a:pPr>
            <a:r>
              <a:t>✓</a:t>
            </a:r>
          </a:p>
        </p:txBody>
      </p:sp>
      <p:sp>
        <p:nvSpPr>
          <p:cNvPr id="45" name="Rounded Rectangle 44"/>
          <p:cNvSpPr/>
          <p:nvPr/>
        </p:nvSpPr>
        <p:spPr>
          <a:xfrm>
            <a:off x="914400" y="5486400"/>
            <a:ext cx="9235440" cy="438912"/>
          </a:xfrm>
          <a:prstGeom prst="roundRect">
            <a:avLst/>
          </a:prstGeom>
          <a:solidFill>
            <a:srgbClr val="F2EFE9"/>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97280" y="5532120"/>
            <a:ext cx="2103120" cy="347472"/>
          </a:xfrm>
          <a:prstGeom prst="rect">
            <a:avLst/>
          </a:prstGeom>
          <a:noFill/>
        </p:spPr>
        <p:txBody>
          <a:bodyPr wrap="square">
            <a:spAutoFit/>
          </a:bodyPr>
          <a:lstStyle/>
          <a:p>
            <a:pPr algn="l">
              <a:defRPr sz="1300" b="0">
                <a:solidFill>
                  <a:srgbClr val="6B666A"/>
                </a:solidFill>
                <a:latin typeface="Helvetica Neue"/>
              </a:defRPr>
            </a:pPr>
            <a:r>
              <a:t>Interactive (not passive)</a:t>
            </a:r>
          </a:p>
        </p:txBody>
      </p:sp>
      <p:sp>
        <p:nvSpPr>
          <p:cNvPr id="47" name="TextBox 46"/>
          <p:cNvSpPr txBox="1"/>
          <p:nvPr/>
        </p:nvSpPr>
        <p:spPr>
          <a:xfrm>
            <a:off x="3200400" y="5532120"/>
            <a:ext cx="1645920" cy="347472"/>
          </a:xfrm>
          <a:prstGeom prst="rect">
            <a:avLst/>
          </a:prstGeom>
          <a:noFill/>
        </p:spPr>
        <p:txBody>
          <a:bodyPr wrap="square">
            <a:spAutoFit/>
          </a:bodyPr>
          <a:lstStyle/>
          <a:p>
            <a:pPr algn="ctr">
              <a:defRPr sz="1600" b="0">
                <a:solidFill>
                  <a:srgbClr val="9E9997"/>
                </a:solidFill>
                <a:latin typeface="Helvetica Neue"/>
              </a:defRPr>
            </a:pPr>
            <a:r>
              <a:t>✗</a:t>
            </a:r>
          </a:p>
        </p:txBody>
      </p:sp>
      <p:sp>
        <p:nvSpPr>
          <p:cNvPr id="48" name="TextBox 47"/>
          <p:cNvSpPr txBox="1"/>
          <p:nvPr/>
        </p:nvSpPr>
        <p:spPr>
          <a:xfrm>
            <a:off x="4846320" y="5532120"/>
            <a:ext cx="1645920" cy="347472"/>
          </a:xfrm>
          <a:prstGeom prst="rect">
            <a:avLst/>
          </a:prstGeom>
          <a:noFill/>
        </p:spPr>
        <p:txBody>
          <a:bodyPr wrap="square">
            <a:spAutoFit/>
          </a:bodyPr>
          <a:lstStyle/>
          <a:p>
            <a:pPr algn="ctr">
              <a:defRPr sz="1600" b="0">
                <a:solidFill>
                  <a:srgbClr val="D4B483"/>
                </a:solidFill>
                <a:latin typeface="Helvetica Neue"/>
              </a:defRPr>
            </a:pPr>
            <a:r>
              <a:t>○</a:t>
            </a:r>
          </a:p>
        </p:txBody>
      </p:sp>
      <p:sp>
        <p:nvSpPr>
          <p:cNvPr id="49" name="TextBox 48"/>
          <p:cNvSpPr txBox="1"/>
          <p:nvPr/>
        </p:nvSpPr>
        <p:spPr>
          <a:xfrm>
            <a:off x="6492240" y="5532120"/>
            <a:ext cx="1645920" cy="347472"/>
          </a:xfrm>
          <a:prstGeom prst="rect">
            <a:avLst/>
          </a:prstGeom>
          <a:noFill/>
        </p:spPr>
        <p:txBody>
          <a:bodyPr wrap="square">
            <a:spAutoFit/>
          </a:bodyPr>
          <a:lstStyle/>
          <a:p>
            <a:pPr algn="ctr">
              <a:defRPr sz="1600" b="0">
                <a:solidFill>
                  <a:srgbClr val="D4B483"/>
                </a:solidFill>
                <a:latin typeface="Helvetica Neue"/>
              </a:defRPr>
            </a:pPr>
            <a:r>
              <a:t>○</a:t>
            </a:r>
          </a:p>
        </p:txBody>
      </p:sp>
      <p:sp>
        <p:nvSpPr>
          <p:cNvPr id="50" name="TextBox 49"/>
          <p:cNvSpPr txBox="1"/>
          <p:nvPr/>
        </p:nvSpPr>
        <p:spPr>
          <a:xfrm>
            <a:off x="8138160" y="5532120"/>
            <a:ext cx="1645920" cy="347472"/>
          </a:xfrm>
          <a:prstGeom prst="rect">
            <a:avLst/>
          </a:prstGeom>
          <a:noFill/>
        </p:spPr>
        <p:txBody>
          <a:bodyPr wrap="square">
            <a:spAutoFit/>
          </a:bodyPr>
          <a:lstStyle/>
          <a:p>
            <a:pPr algn="ctr">
              <a:defRPr sz="1600" b="0">
                <a:solidFill>
                  <a:srgbClr val="D4B483"/>
                </a:solidFill>
                <a:latin typeface="Helvetica Neue"/>
              </a:defRPr>
            </a:pPr>
            <a:r>
              <a:t>✓</a:t>
            </a:r>
          </a:p>
        </p:txBody>
      </p:sp>
      <p:sp>
        <p:nvSpPr>
          <p:cNvPr id="51" name="TextBox 50"/>
          <p:cNvSpPr txBox="1"/>
          <p:nvPr/>
        </p:nvSpPr>
        <p:spPr>
          <a:xfrm>
            <a:off x="914400" y="6035040"/>
            <a:ext cx="9144000" cy="365760"/>
          </a:xfrm>
          <a:prstGeom prst="rect">
            <a:avLst/>
          </a:prstGeom>
          <a:noFill/>
        </p:spPr>
        <p:txBody>
          <a:bodyPr wrap="square">
            <a:spAutoFit/>
          </a:bodyPr>
          <a:lstStyle/>
          <a:p>
            <a:pPr algn="l">
              <a:defRPr sz="1200" b="0">
                <a:solidFill>
                  <a:srgbClr val="9E9997"/>
                </a:solidFill>
                <a:latin typeface="Helvetica Neue"/>
              </a:defRPr>
            </a:pPr>
            <a:r>
              <a:t>✓ = Full support   ○ = Partial   ✗ = Not available   *Launch strategy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914400" y="731520"/>
            <a:ext cx="1828800" cy="38100"/>
          </a:xfrm>
          <a:prstGeom prst="rect">
            <a:avLst/>
          </a:prstGeom>
          <a:solidFill>
            <a:srgbClr val="D4B4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058400" cy="640080"/>
          </a:xfrm>
          <a:prstGeom prst="rect">
            <a:avLst/>
          </a:prstGeom>
          <a:noFill/>
        </p:spPr>
        <p:txBody>
          <a:bodyPr wrap="square">
            <a:spAutoFit/>
          </a:bodyPr>
          <a:lstStyle/>
          <a:p>
            <a:pPr algn="l">
              <a:defRPr sz="3600" b="1">
                <a:solidFill>
                  <a:srgbClr val="3A363B"/>
                </a:solidFill>
                <a:latin typeface="Helvetica Neue"/>
              </a:defRPr>
            </a:pPr>
            <a:r>
              <a:t>Business Model</a:t>
            </a:r>
          </a:p>
        </p:txBody>
      </p:sp>
      <p:sp>
        <p:nvSpPr>
          <p:cNvPr id="4" name="Rounded Rectangle 3"/>
          <p:cNvSpPr/>
          <p:nvPr/>
        </p:nvSpPr>
        <p:spPr>
          <a:xfrm>
            <a:off x="914400" y="2011680"/>
            <a:ext cx="3200400" cy="3474720"/>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2194560"/>
            <a:ext cx="2743200" cy="365760"/>
          </a:xfrm>
          <a:prstGeom prst="rect">
            <a:avLst/>
          </a:prstGeom>
          <a:noFill/>
        </p:spPr>
        <p:txBody>
          <a:bodyPr wrap="square">
            <a:spAutoFit/>
          </a:bodyPr>
          <a:lstStyle/>
          <a:p>
            <a:pPr algn="l">
              <a:defRPr sz="1600" b="1">
                <a:solidFill>
                  <a:srgbClr val="7EB58E"/>
                </a:solidFill>
                <a:latin typeface="Helvetica Neue"/>
              </a:defRPr>
            </a:pPr>
            <a:r>
              <a:t>Free Tier</a:t>
            </a:r>
          </a:p>
        </p:txBody>
      </p:sp>
      <p:sp>
        <p:nvSpPr>
          <p:cNvPr id="6" name="TextBox 5"/>
          <p:cNvSpPr txBox="1"/>
          <p:nvPr/>
        </p:nvSpPr>
        <p:spPr>
          <a:xfrm>
            <a:off x="1188720" y="2560320"/>
            <a:ext cx="2743200" cy="365760"/>
          </a:xfrm>
          <a:prstGeom prst="rect">
            <a:avLst/>
          </a:prstGeom>
          <a:noFill/>
        </p:spPr>
        <p:txBody>
          <a:bodyPr wrap="square">
            <a:spAutoFit/>
          </a:bodyPr>
          <a:lstStyle/>
          <a:p>
            <a:pPr algn="l">
              <a:defRPr sz="3200" b="1">
                <a:solidFill>
                  <a:srgbClr val="3A363B"/>
                </a:solidFill>
                <a:latin typeface="Helvetica Neue"/>
              </a:defRPr>
            </a:pPr>
            <a:r>
              <a:t>$0</a:t>
            </a:r>
          </a:p>
        </p:txBody>
      </p:sp>
      <p:sp>
        <p:nvSpPr>
          <p:cNvPr id="7" name="TextBox 6"/>
          <p:cNvSpPr txBox="1"/>
          <p:nvPr/>
        </p:nvSpPr>
        <p:spPr>
          <a:xfrm>
            <a:off x="1188720" y="3017520"/>
            <a:ext cx="2743200" cy="2286000"/>
          </a:xfrm>
          <a:prstGeom prst="rect">
            <a:avLst/>
          </a:prstGeom>
          <a:noFill/>
        </p:spPr>
        <p:txBody>
          <a:bodyPr wrap="square">
            <a:spAutoFit/>
          </a:bodyPr>
          <a:lstStyle/>
          <a:p>
            <a:pPr>
              <a:spcAft>
                <a:spcPts val="800"/>
              </a:spcAft>
            </a:pPr>
            <a:r>
              <a:rPr sz="1100">
                <a:solidFill>
                  <a:srgbClr val="7EB58E"/>
                </a:solidFill>
                <a:latin typeface="Helvetica Neue"/>
              </a:rPr>
              <a:t>●  </a:t>
            </a:r>
            <a:r>
              <a:rPr sz="1300">
                <a:solidFill>
                  <a:srgbClr val="6B666A"/>
                </a:solidFill>
                <a:latin typeface="Helvetica Neue"/>
              </a:rPr>
              <a:t>Guided breathing (1 mode)</a:t>
            </a:r>
          </a:p>
          <a:p>
            <a:pPr>
              <a:spcAft>
                <a:spcPts val="800"/>
              </a:spcAft>
            </a:pPr>
            <a:r>
              <a:rPr sz="1100">
                <a:solidFill>
                  <a:srgbClr val="7EB58E"/>
                </a:solidFill>
                <a:latin typeface="Helvetica Neue"/>
              </a:rPr>
              <a:t>●  </a:t>
            </a:r>
            <a:r>
              <a:rPr sz="1300">
                <a:solidFill>
                  <a:srgbClr val="6B666A"/>
                </a:solidFill>
                <a:latin typeface="Helvetica Neue"/>
              </a:rPr>
              <a:t>Mood mapping</a:t>
            </a:r>
          </a:p>
          <a:p>
            <a:pPr>
              <a:spcAft>
                <a:spcPts val="800"/>
              </a:spcAft>
            </a:pPr>
            <a:r>
              <a:rPr sz="1100">
                <a:solidFill>
                  <a:srgbClr val="7EB58E"/>
                </a:solidFill>
                <a:latin typeface="Helvetica Neue"/>
              </a:rPr>
              <a:t>●  </a:t>
            </a:r>
            <a:r>
              <a:rPr sz="1300">
                <a:solidFill>
                  <a:srgbClr val="6B666A"/>
                </a:solidFill>
                <a:latin typeface="Helvetica Neue"/>
              </a:rPr>
              <a:t>Tap to regulate</a:t>
            </a:r>
          </a:p>
          <a:p>
            <a:pPr>
              <a:spcAft>
                <a:spcPts val="800"/>
              </a:spcAft>
            </a:pPr>
            <a:r>
              <a:rPr sz="1100">
                <a:solidFill>
                  <a:srgbClr val="7EB58E"/>
                </a:solidFill>
                <a:latin typeface="Helvetica Neue"/>
              </a:rPr>
              <a:t>●  </a:t>
            </a:r>
            <a:r>
              <a:rPr sz="1300">
                <a:solidFill>
                  <a:srgbClr val="6B666A"/>
                </a:solidFill>
                <a:latin typeface="Helvetica Neue"/>
              </a:rPr>
              <a:t>Daily quote</a:t>
            </a:r>
          </a:p>
          <a:p>
            <a:pPr>
              <a:spcAft>
                <a:spcPts val="800"/>
              </a:spcAft>
            </a:pPr>
            <a:r>
              <a:rPr sz="1100">
                <a:solidFill>
                  <a:srgbClr val="7EB58E"/>
                </a:solidFill>
                <a:latin typeface="Helvetica Neue"/>
              </a:rPr>
              <a:t>●  </a:t>
            </a:r>
            <a:r>
              <a:rPr sz="1300">
                <a:solidFill>
                  <a:srgbClr val="6B666A"/>
                </a:solidFill>
                <a:latin typeface="Helvetica Neue"/>
              </a:rPr>
              <a:t>Basic stretch routine</a:t>
            </a:r>
          </a:p>
        </p:txBody>
      </p:sp>
      <p:sp>
        <p:nvSpPr>
          <p:cNvPr id="8" name="Rounded Rectangle 7"/>
          <p:cNvSpPr/>
          <p:nvPr/>
        </p:nvSpPr>
        <p:spPr>
          <a:xfrm>
            <a:off x="4572000" y="2011680"/>
            <a:ext cx="3200400" cy="3474720"/>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46320" y="2194560"/>
            <a:ext cx="2743200" cy="365760"/>
          </a:xfrm>
          <a:prstGeom prst="rect">
            <a:avLst/>
          </a:prstGeom>
          <a:noFill/>
        </p:spPr>
        <p:txBody>
          <a:bodyPr wrap="square">
            <a:spAutoFit/>
          </a:bodyPr>
          <a:lstStyle/>
          <a:p>
            <a:pPr algn="l">
              <a:defRPr sz="1600" b="1">
                <a:solidFill>
                  <a:srgbClr val="9B8BC4"/>
                </a:solidFill>
                <a:latin typeface="Helvetica Neue"/>
              </a:defRPr>
            </a:pPr>
            <a:r>
              <a:t>Premium</a:t>
            </a:r>
          </a:p>
        </p:txBody>
      </p:sp>
      <p:sp>
        <p:nvSpPr>
          <p:cNvPr id="10" name="TextBox 9"/>
          <p:cNvSpPr txBox="1"/>
          <p:nvPr/>
        </p:nvSpPr>
        <p:spPr>
          <a:xfrm>
            <a:off x="4846320" y="2560320"/>
            <a:ext cx="2743200" cy="365760"/>
          </a:xfrm>
          <a:prstGeom prst="rect">
            <a:avLst/>
          </a:prstGeom>
          <a:noFill/>
        </p:spPr>
        <p:txBody>
          <a:bodyPr wrap="square">
            <a:spAutoFit/>
          </a:bodyPr>
          <a:lstStyle/>
          <a:p>
            <a:pPr algn="l">
              <a:defRPr sz="3200" b="1">
                <a:solidFill>
                  <a:srgbClr val="3A363B"/>
                </a:solidFill>
                <a:latin typeface="Helvetica Neue"/>
              </a:defRPr>
            </a:pPr>
            <a:r>
              <a:t>$4.99/mo</a:t>
            </a:r>
          </a:p>
        </p:txBody>
      </p:sp>
      <p:sp>
        <p:nvSpPr>
          <p:cNvPr id="11" name="TextBox 10"/>
          <p:cNvSpPr txBox="1"/>
          <p:nvPr/>
        </p:nvSpPr>
        <p:spPr>
          <a:xfrm>
            <a:off x="4846320" y="3017520"/>
            <a:ext cx="2743200" cy="2286000"/>
          </a:xfrm>
          <a:prstGeom prst="rect">
            <a:avLst/>
          </a:prstGeom>
          <a:noFill/>
        </p:spPr>
        <p:txBody>
          <a:bodyPr wrap="square">
            <a:spAutoFit/>
          </a:bodyPr>
          <a:lstStyle/>
          <a:p>
            <a:pPr>
              <a:spcAft>
                <a:spcPts val="800"/>
              </a:spcAft>
            </a:pPr>
            <a:r>
              <a:rPr sz="1100">
                <a:solidFill>
                  <a:srgbClr val="9B8BC4"/>
                </a:solidFill>
                <a:latin typeface="Helvetica Neue"/>
              </a:rPr>
              <a:t>●  </a:t>
            </a:r>
            <a:r>
              <a:rPr sz="1300">
                <a:solidFill>
                  <a:srgbClr val="6B666A"/>
                </a:solidFill>
                <a:latin typeface="Helvetica Neue"/>
              </a:rPr>
              <a:t>All 3 breathing soundscapes</a:t>
            </a:r>
          </a:p>
          <a:p>
            <a:pPr>
              <a:spcAft>
                <a:spcPts val="800"/>
              </a:spcAft>
            </a:pPr>
            <a:r>
              <a:rPr sz="1100">
                <a:solidFill>
                  <a:srgbClr val="9B8BC4"/>
                </a:solidFill>
                <a:latin typeface="Helvetica Neue"/>
              </a:rPr>
              <a:t>●  </a:t>
            </a:r>
            <a:r>
              <a:rPr sz="1300">
                <a:solidFill>
                  <a:srgbClr val="6B666A"/>
                </a:solidFill>
                <a:latin typeface="Helvetica Neue"/>
              </a:rPr>
              <a:t>Binaural beat modes</a:t>
            </a:r>
          </a:p>
          <a:p>
            <a:pPr>
              <a:spcAft>
                <a:spcPts val="800"/>
              </a:spcAft>
            </a:pPr>
            <a:r>
              <a:rPr sz="1100">
                <a:solidFill>
                  <a:srgbClr val="9B8BC4"/>
                </a:solidFill>
                <a:latin typeface="Helvetica Neue"/>
              </a:rPr>
              <a:t>●  </a:t>
            </a:r>
            <a:r>
              <a:rPr sz="1300">
                <a:solidFill>
                  <a:srgbClr val="6B666A"/>
                </a:solidFill>
                <a:latin typeface="Helvetica Neue"/>
              </a:rPr>
              <a:t>Extended stretch library</a:t>
            </a:r>
          </a:p>
          <a:p>
            <a:pPr>
              <a:spcAft>
                <a:spcPts val="800"/>
              </a:spcAft>
            </a:pPr>
            <a:r>
              <a:rPr sz="1100">
                <a:solidFill>
                  <a:srgbClr val="9B8BC4"/>
                </a:solidFill>
                <a:latin typeface="Helvetica Neue"/>
              </a:rPr>
              <a:t>●  </a:t>
            </a:r>
            <a:r>
              <a:rPr sz="1300">
                <a:solidFill>
                  <a:srgbClr val="6B666A"/>
                </a:solidFill>
                <a:latin typeface="Helvetica Neue"/>
              </a:rPr>
              <a:t>Personalized mood history</a:t>
            </a:r>
          </a:p>
          <a:p>
            <a:pPr>
              <a:spcAft>
                <a:spcPts val="800"/>
              </a:spcAft>
            </a:pPr>
            <a:r>
              <a:rPr sz="1100">
                <a:solidFill>
                  <a:srgbClr val="9B8BC4"/>
                </a:solidFill>
                <a:latin typeface="Helvetica Neue"/>
              </a:rPr>
              <a:t>●  </a:t>
            </a:r>
            <a:r>
              <a:rPr sz="1300">
                <a:solidFill>
                  <a:srgbClr val="6B666A"/>
                </a:solidFill>
                <a:latin typeface="Helvetica Neue"/>
              </a:rPr>
              <a:t>Offline sound generation</a:t>
            </a:r>
          </a:p>
        </p:txBody>
      </p:sp>
      <p:sp>
        <p:nvSpPr>
          <p:cNvPr id="12" name="Rounded Rectangle 11"/>
          <p:cNvSpPr/>
          <p:nvPr/>
        </p:nvSpPr>
        <p:spPr>
          <a:xfrm>
            <a:off x="8229600" y="2011680"/>
            <a:ext cx="3200400" cy="3474720"/>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0" y="2194560"/>
            <a:ext cx="2743200" cy="365760"/>
          </a:xfrm>
          <a:prstGeom prst="rect">
            <a:avLst/>
          </a:prstGeom>
          <a:noFill/>
        </p:spPr>
        <p:txBody>
          <a:bodyPr wrap="square">
            <a:spAutoFit/>
          </a:bodyPr>
          <a:lstStyle/>
          <a:p>
            <a:pPr algn="l">
              <a:defRPr sz="1600" b="1">
                <a:solidFill>
                  <a:srgbClr val="D4B483"/>
                </a:solidFill>
                <a:latin typeface="Helvetica Neue"/>
              </a:defRPr>
            </a:pPr>
            <a:r>
              <a:t>Annual</a:t>
            </a:r>
          </a:p>
        </p:txBody>
      </p:sp>
      <p:sp>
        <p:nvSpPr>
          <p:cNvPr id="14" name="TextBox 13"/>
          <p:cNvSpPr txBox="1"/>
          <p:nvPr/>
        </p:nvSpPr>
        <p:spPr>
          <a:xfrm>
            <a:off x="8503920" y="2560320"/>
            <a:ext cx="2743200" cy="365760"/>
          </a:xfrm>
          <a:prstGeom prst="rect">
            <a:avLst/>
          </a:prstGeom>
          <a:noFill/>
        </p:spPr>
        <p:txBody>
          <a:bodyPr wrap="square">
            <a:spAutoFit/>
          </a:bodyPr>
          <a:lstStyle/>
          <a:p>
            <a:pPr algn="l">
              <a:defRPr sz="3200" b="1">
                <a:solidFill>
                  <a:srgbClr val="3A363B"/>
                </a:solidFill>
                <a:latin typeface="Helvetica Neue"/>
              </a:defRPr>
            </a:pPr>
            <a:r>
              <a:t>$39.99/yr</a:t>
            </a:r>
          </a:p>
        </p:txBody>
      </p:sp>
      <p:sp>
        <p:nvSpPr>
          <p:cNvPr id="15" name="TextBox 14"/>
          <p:cNvSpPr txBox="1"/>
          <p:nvPr/>
        </p:nvSpPr>
        <p:spPr>
          <a:xfrm>
            <a:off x="8503920" y="3017520"/>
            <a:ext cx="2743200" cy="2286000"/>
          </a:xfrm>
          <a:prstGeom prst="rect">
            <a:avLst/>
          </a:prstGeom>
          <a:noFill/>
        </p:spPr>
        <p:txBody>
          <a:bodyPr wrap="square">
            <a:spAutoFit/>
          </a:bodyPr>
          <a:lstStyle/>
          <a:p>
            <a:pPr>
              <a:spcAft>
                <a:spcPts val="800"/>
              </a:spcAft>
            </a:pPr>
            <a:r>
              <a:rPr sz="1100">
                <a:solidFill>
                  <a:srgbClr val="D4B483"/>
                </a:solidFill>
                <a:latin typeface="Helvetica Neue"/>
              </a:rPr>
              <a:t>●  </a:t>
            </a:r>
            <a:r>
              <a:rPr sz="1300">
                <a:solidFill>
                  <a:srgbClr val="6B666A"/>
                </a:solidFill>
                <a:latin typeface="Helvetica Neue"/>
              </a:rPr>
              <a:t>Everything in Premium</a:t>
            </a:r>
          </a:p>
          <a:p>
            <a:pPr>
              <a:spcAft>
                <a:spcPts val="800"/>
              </a:spcAft>
            </a:pPr>
            <a:r>
              <a:rPr sz="1100">
                <a:solidFill>
                  <a:srgbClr val="D4B483"/>
                </a:solidFill>
                <a:latin typeface="Helvetica Neue"/>
              </a:rPr>
              <a:t>●  </a:t>
            </a:r>
            <a:r>
              <a:rPr sz="1300">
                <a:solidFill>
                  <a:srgbClr val="6B666A"/>
                </a:solidFill>
                <a:latin typeface="Helvetica Neue"/>
              </a:rPr>
              <a:t>Priority new features</a:t>
            </a:r>
          </a:p>
          <a:p>
            <a:pPr>
              <a:spcAft>
                <a:spcPts val="800"/>
              </a:spcAft>
            </a:pPr>
            <a:r>
              <a:rPr sz="1100">
                <a:solidFill>
                  <a:srgbClr val="D4B483"/>
                </a:solidFill>
                <a:latin typeface="Helvetica Neue"/>
              </a:rPr>
              <a:t>●  </a:t>
            </a:r>
            <a:r>
              <a:rPr sz="1300">
                <a:solidFill>
                  <a:srgbClr val="6B666A"/>
                </a:solidFill>
                <a:latin typeface="Helvetica Neue"/>
              </a:rPr>
              <a:t>Family sharing (up to 5)</a:t>
            </a:r>
          </a:p>
          <a:p>
            <a:pPr>
              <a:spcAft>
                <a:spcPts val="800"/>
              </a:spcAft>
            </a:pPr>
            <a:r>
              <a:rPr sz="1100">
                <a:solidFill>
                  <a:srgbClr val="D4B483"/>
                </a:solidFill>
                <a:latin typeface="Helvetica Neue"/>
              </a:rPr>
              <a:t>●  </a:t>
            </a:r>
            <a:r>
              <a:rPr sz="1300">
                <a:solidFill>
                  <a:srgbClr val="6B666A"/>
                </a:solidFill>
                <a:latin typeface="Helvetica Neue"/>
              </a:rPr>
              <a:t>Custom soundscape builder</a:t>
            </a:r>
          </a:p>
          <a:p>
            <a:pPr>
              <a:spcAft>
                <a:spcPts val="800"/>
              </a:spcAft>
            </a:pPr>
            <a:r>
              <a:rPr sz="1100">
                <a:solidFill>
                  <a:srgbClr val="D4B483"/>
                </a:solidFill>
                <a:latin typeface="Helvetica Neue"/>
              </a:rPr>
              <a:t>●  </a:t>
            </a:r>
            <a:r>
              <a:rPr sz="1300">
                <a:solidFill>
                  <a:srgbClr val="6B666A"/>
                </a:solidFill>
                <a:latin typeface="Helvetica Neue"/>
              </a:rPr>
              <a:t>Save 33% vs monthly</a:t>
            </a:r>
          </a:p>
        </p:txBody>
      </p:sp>
      <p:sp>
        <p:nvSpPr>
          <p:cNvPr id="16" name="TextBox 15"/>
          <p:cNvSpPr txBox="1"/>
          <p:nvPr/>
        </p:nvSpPr>
        <p:spPr>
          <a:xfrm>
            <a:off x="914400" y="5760720"/>
            <a:ext cx="9601200" cy="457200"/>
          </a:xfrm>
          <a:prstGeom prst="rect">
            <a:avLst/>
          </a:prstGeom>
          <a:noFill/>
        </p:spPr>
        <p:txBody>
          <a:bodyPr wrap="square">
            <a:spAutoFit/>
          </a:bodyPr>
          <a:lstStyle/>
          <a:p>
            <a:pPr algn="l">
              <a:defRPr sz="1400" b="0">
                <a:solidFill>
                  <a:srgbClr val="6B666A"/>
                </a:solidFill>
                <a:latin typeface="Helvetica Neue"/>
              </a:defRPr>
            </a:pPr>
            <a:r>
              <a:t>Additional revenue: B2B licensing for therapy practices, corporate wellness programs, and educational institutions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914400" y="731520"/>
            <a:ext cx="1828800" cy="38100"/>
          </a:xfrm>
          <a:prstGeom prst="rect">
            <a:avLst/>
          </a:prstGeom>
          <a:solidFill>
            <a:srgbClr val="7E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058400" cy="640080"/>
          </a:xfrm>
          <a:prstGeom prst="rect">
            <a:avLst/>
          </a:prstGeom>
          <a:noFill/>
        </p:spPr>
        <p:txBody>
          <a:bodyPr wrap="square">
            <a:spAutoFit/>
          </a:bodyPr>
          <a:lstStyle/>
          <a:p>
            <a:pPr algn="l">
              <a:defRPr sz="3600" b="1">
                <a:solidFill>
                  <a:srgbClr val="3A363B"/>
                </a:solidFill>
                <a:latin typeface="Helvetica Neue"/>
              </a:defRPr>
            </a:pPr>
            <a:r>
              <a:t>Go-to-Market Strategy</a:t>
            </a:r>
          </a:p>
        </p:txBody>
      </p:sp>
      <p:sp>
        <p:nvSpPr>
          <p:cNvPr id="4" name="Rounded Rectangle 3"/>
          <p:cNvSpPr/>
          <p:nvPr/>
        </p:nvSpPr>
        <p:spPr>
          <a:xfrm>
            <a:off x="914400" y="2011680"/>
            <a:ext cx="3108960" cy="4114800"/>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2194560"/>
            <a:ext cx="2743200" cy="365760"/>
          </a:xfrm>
          <a:prstGeom prst="rect">
            <a:avLst/>
          </a:prstGeom>
          <a:noFill/>
        </p:spPr>
        <p:txBody>
          <a:bodyPr wrap="square">
            <a:spAutoFit/>
          </a:bodyPr>
          <a:lstStyle/>
          <a:p>
            <a:pPr algn="l">
              <a:defRPr sz="1600" b="1">
                <a:solidFill>
                  <a:srgbClr val="7EB5A6"/>
                </a:solidFill>
                <a:latin typeface="Helvetica Neue"/>
              </a:defRPr>
            </a:pPr>
            <a:r>
              <a:t>Phase 1: Soft Launch</a:t>
            </a:r>
          </a:p>
        </p:txBody>
      </p:sp>
      <p:sp>
        <p:nvSpPr>
          <p:cNvPr id="6" name="TextBox 5"/>
          <p:cNvSpPr txBox="1"/>
          <p:nvPr/>
        </p:nvSpPr>
        <p:spPr>
          <a:xfrm>
            <a:off x="1097280" y="2560320"/>
            <a:ext cx="2743200" cy="274320"/>
          </a:xfrm>
          <a:prstGeom prst="rect">
            <a:avLst/>
          </a:prstGeom>
          <a:noFill/>
        </p:spPr>
        <p:txBody>
          <a:bodyPr wrap="square">
            <a:spAutoFit/>
          </a:bodyPr>
          <a:lstStyle/>
          <a:p>
            <a:pPr algn="l">
              <a:defRPr sz="1300" b="0">
                <a:solidFill>
                  <a:srgbClr val="6B666A"/>
                </a:solidFill>
                <a:latin typeface="Helvetica Neue"/>
              </a:defRPr>
            </a:pPr>
            <a:r>
              <a:t>Months 1–3</a:t>
            </a:r>
          </a:p>
        </p:txBody>
      </p:sp>
      <p:sp>
        <p:nvSpPr>
          <p:cNvPr id="7" name="TextBox 6"/>
          <p:cNvSpPr txBox="1"/>
          <p:nvPr/>
        </p:nvSpPr>
        <p:spPr>
          <a:xfrm>
            <a:off x="1097280" y="3017520"/>
            <a:ext cx="2743200" cy="2743200"/>
          </a:xfrm>
          <a:prstGeom prst="rect">
            <a:avLst/>
          </a:prstGeom>
          <a:noFill/>
        </p:spPr>
        <p:txBody>
          <a:bodyPr wrap="square">
            <a:spAutoFit/>
          </a:bodyPr>
          <a:lstStyle/>
          <a:p>
            <a:pPr>
              <a:spcAft>
                <a:spcPts val="800"/>
              </a:spcAft>
            </a:pPr>
            <a:r>
              <a:rPr sz="1200">
                <a:solidFill>
                  <a:srgbClr val="7EB5A6"/>
                </a:solidFill>
                <a:latin typeface="Helvetica Neue"/>
              </a:rPr>
              <a:t>●  </a:t>
            </a:r>
            <a:r>
              <a:rPr sz="1400">
                <a:solidFill>
                  <a:srgbClr val="6B666A"/>
                </a:solidFill>
                <a:latin typeface="Helvetica Neue"/>
              </a:rPr>
              <a:t>Launch on iOS App Store (free tier)</a:t>
            </a:r>
          </a:p>
          <a:p>
            <a:pPr>
              <a:spcAft>
                <a:spcPts val="800"/>
              </a:spcAft>
            </a:pPr>
            <a:r>
              <a:rPr sz="1200">
                <a:solidFill>
                  <a:srgbClr val="7EB5A6"/>
                </a:solidFill>
                <a:latin typeface="Helvetica Neue"/>
              </a:rPr>
              <a:t>●  </a:t>
            </a:r>
            <a:r>
              <a:rPr sz="1400">
                <a:solidFill>
                  <a:srgbClr val="6B666A"/>
                </a:solidFill>
                <a:latin typeface="Helvetica Neue"/>
              </a:rPr>
              <a:t>Target university wellness centers</a:t>
            </a:r>
          </a:p>
          <a:p>
            <a:pPr>
              <a:spcAft>
                <a:spcPts val="800"/>
              </a:spcAft>
            </a:pPr>
            <a:r>
              <a:rPr sz="1200">
                <a:solidFill>
                  <a:srgbClr val="7EB5A6"/>
                </a:solidFill>
                <a:latin typeface="Helvetica Neue"/>
              </a:rPr>
              <a:t>●  </a:t>
            </a:r>
            <a:r>
              <a:rPr sz="1400">
                <a:solidFill>
                  <a:srgbClr val="6B666A"/>
                </a:solidFill>
                <a:latin typeface="Helvetica Neue"/>
              </a:rPr>
              <a:t>Apple Developer Academy network</a:t>
            </a:r>
          </a:p>
          <a:p>
            <a:pPr>
              <a:spcAft>
                <a:spcPts val="800"/>
              </a:spcAft>
            </a:pPr>
            <a:r>
              <a:rPr sz="1200">
                <a:solidFill>
                  <a:srgbClr val="7EB5A6"/>
                </a:solidFill>
                <a:latin typeface="Helvetica Neue"/>
              </a:rPr>
              <a:t>●  </a:t>
            </a:r>
            <a:r>
              <a:rPr sz="1400">
                <a:solidFill>
                  <a:srgbClr val="6B666A"/>
                </a:solidFill>
                <a:latin typeface="Helvetica Neue"/>
              </a:rPr>
              <a:t>Beta testing with 200–500 users</a:t>
            </a:r>
          </a:p>
        </p:txBody>
      </p:sp>
      <p:sp>
        <p:nvSpPr>
          <p:cNvPr id="8" name="Rounded Rectangle 7"/>
          <p:cNvSpPr/>
          <p:nvPr/>
        </p:nvSpPr>
        <p:spPr>
          <a:xfrm>
            <a:off x="4297680" y="2011680"/>
            <a:ext cx="3108960" cy="4114800"/>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60" y="2194560"/>
            <a:ext cx="2743200" cy="365760"/>
          </a:xfrm>
          <a:prstGeom prst="rect">
            <a:avLst/>
          </a:prstGeom>
          <a:noFill/>
        </p:spPr>
        <p:txBody>
          <a:bodyPr wrap="square">
            <a:spAutoFit/>
          </a:bodyPr>
          <a:lstStyle/>
          <a:p>
            <a:pPr algn="l">
              <a:defRPr sz="1600" b="1">
                <a:solidFill>
                  <a:srgbClr val="9B8BC4"/>
                </a:solidFill>
                <a:latin typeface="Helvetica Neue"/>
              </a:defRPr>
            </a:pPr>
            <a:r>
              <a:t>Phase 2: Growth</a:t>
            </a:r>
          </a:p>
        </p:txBody>
      </p:sp>
      <p:sp>
        <p:nvSpPr>
          <p:cNvPr id="10" name="TextBox 9"/>
          <p:cNvSpPr txBox="1"/>
          <p:nvPr/>
        </p:nvSpPr>
        <p:spPr>
          <a:xfrm>
            <a:off x="4480560" y="2560320"/>
            <a:ext cx="2743200" cy="274320"/>
          </a:xfrm>
          <a:prstGeom prst="rect">
            <a:avLst/>
          </a:prstGeom>
          <a:noFill/>
        </p:spPr>
        <p:txBody>
          <a:bodyPr wrap="square">
            <a:spAutoFit/>
          </a:bodyPr>
          <a:lstStyle/>
          <a:p>
            <a:pPr algn="l">
              <a:defRPr sz="1300" b="0">
                <a:solidFill>
                  <a:srgbClr val="6B666A"/>
                </a:solidFill>
                <a:latin typeface="Helvetica Neue"/>
              </a:defRPr>
            </a:pPr>
            <a:r>
              <a:t>Months 4–9</a:t>
            </a:r>
          </a:p>
        </p:txBody>
      </p:sp>
      <p:sp>
        <p:nvSpPr>
          <p:cNvPr id="11" name="TextBox 10"/>
          <p:cNvSpPr txBox="1"/>
          <p:nvPr/>
        </p:nvSpPr>
        <p:spPr>
          <a:xfrm>
            <a:off x="4480560" y="3017520"/>
            <a:ext cx="2743200" cy="2743200"/>
          </a:xfrm>
          <a:prstGeom prst="rect">
            <a:avLst/>
          </a:prstGeom>
          <a:noFill/>
        </p:spPr>
        <p:txBody>
          <a:bodyPr wrap="square">
            <a:spAutoFit/>
          </a:bodyPr>
          <a:lstStyle/>
          <a:p>
            <a:pPr>
              <a:spcAft>
                <a:spcPts val="800"/>
              </a:spcAft>
            </a:pPr>
            <a:r>
              <a:rPr sz="1200">
                <a:solidFill>
                  <a:srgbClr val="9B8BC4"/>
                </a:solidFill>
                <a:latin typeface="Helvetica Neue"/>
              </a:rPr>
              <a:t>●  </a:t>
            </a:r>
            <a:r>
              <a:rPr sz="1400">
                <a:solidFill>
                  <a:srgbClr val="6B666A"/>
                </a:solidFill>
                <a:latin typeface="Helvetica Neue"/>
              </a:rPr>
              <a:t>Introduce Premium subscription</a:t>
            </a:r>
          </a:p>
          <a:p>
            <a:pPr>
              <a:spcAft>
                <a:spcPts val="800"/>
              </a:spcAft>
            </a:pPr>
            <a:r>
              <a:rPr sz="1200">
                <a:solidFill>
                  <a:srgbClr val="9B8BC4"/>
                </a:solidFill>
                <a:latin typeface="Helvetica Neue"/>
              </a:rPr>
              <a:t>●  </a:t>
            </a:r>
            <a:r>
              <a:rPr sz="1400">
                <a:solidFill>
                  <a:srgbClr val="6B666A"/>
                </a:solidFill>
                <a:latin typeface="Helvetica Neue"/>
              </a:rPr>
              <a:t>Influencer partnerships (wellness/music)</a:t>
            </a:r>
          </a:p>
          <a:p>
            <a:pPr>
              <a:spcAft>
                <a:spcPts val="800"/>
              </a:spcAft>
            </a:pPr>
            <a:r>
              <a:rPr sz="1200">
                <a:solidFill>
                  <a:srgbClr val="9B8BC4"/>
                </a:solidFill>
                <a:latin typeface="Helvetica Neue"/>
              </a:rPr>
              <a:t>●  </a:t>
            </a:r>
            <a:r>
              <a:rPr sz="1400">
                <a:solidFill>
                  <a:srgbClr val="6B666A"/>
                </a:solidFill>
                <a:latin typeface="Helvetica Neue"/>
              </a:rPr>
              <a:t>App Store Optimization (ASO)</a:t>
            </a:r>
          </a:p>
          <a:p>
            <a:pPr>
              <a:spcAft>
                <a:spcPts val="800"/>
              </a:spcAft>
            </a:pPr>
            <a:r>
              <a:rPr sz="1200">
                <a:solidFill>
                  <a:srgbClr val="9B8BC4"/>
                </a:solidFill>
                <a:latin typeface="Helvetica Neue"/>
              </a:rPr>
              <a:t>●  </a:t>
            </a:r>
            <a:r>
              <a:rPr sz="1400">
                <a:solidFill>
                  <a:srgbClr val="6B666A"/>
                </a:solidFill>
                <a:latin typeface="Helvetica Neue"/>
              </a:rPr>
              <a:t>Content marketing: sound + science blog</a:t>
            </a:r>
          </a:p>
        </p:txBody>
      </p:sp>
      <p:sp>
        <p:nvSpPr>
          <p:cNvPr id="12" name="Rounded Rectangle 11"/>
          <p:cNvSpPr/>
          <p:nvPr/>
        </p:nvSpPr>
        <p:spPr>
          <a:xfrm>
            <a:off x="7680960" y="2011680"/>
            <a:ext cx="3108960" cy="4114800"/>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0" y="2194560"/>
            <a:ext cx="2743200" cy="365760"/>
          </a:xfrm>
          <a:prstGeom prst="rect">
            <a:avLst/>
          </a:prstGeom>
          <a:noFill/>
        </p:spPr>
        <p:txBody>
          <a:bodyPr wrap="square">
            <a:spAutoFit/>
          </a:bodyPr>
          <a:lstStyle/>
          <a:p>
            <a:pPr algn="l">
              <a:defRPr sz="1600" b="1">
                <a:solidFill>
                  <a:srgbClr val="D4B483"/>
                </a:solidFill>
                <a:latin typeface="Helvetica Neue"/>
              </a:defRPr>
            </a:pPr>
            <a:r>
              <a:t>Phase 3: Scale</a:t>
            </a:r>
          </a:p>
        </p:txBody>
      </p:sp>
      <p:sp>
        <p:nvSpPr>
          <p:cNvPr id="14" name="TextBox 13"/>
          <p:cNvSpPr txBox="1"/>
          <p:nvPr/>
        </p:nvSpPr>
        <p:spPr>
          <a:xfrm>
            <a:off x="7863840" y="2560320"/>
            <a:ext cx="2743200" cy="274320"/>
          </a:xfrm>
          <a:prstGeom prst="rect">
            <a:avLst/>
          </a:prstGeom>
          <a:noFill/>
        </p:spPr>
        <p:txBody>
          <a:bodyPr wrap="square">
            <a:spAutoFit/>
          </a:bodyPr>
          <a:lstStyle/>
          <a:p>
            <a:pPr algn="l">
              <a:defRPr sz="1300" b="0">
                <a:solidFill>
                  <a:srgbClr val="6B666A"/>
                </a:solidFill>
                <a:latin typeface="Helvetica Neue"/>
              </a:defRPr>
            </a:pPr>
            <a:r>
              <a:t>Months 10–18</a:t>
            </a:r>
          </a:p>
        </p:txBody>
      </p:sp>
      <p:sp>
        <p:nvSpPr>
          <p:cNvPr id="15" name="TextBox 14"/>
          <p:cNvSpPr txBox="1"/>
          <p:nvPr/>
        </p:nvSpPr>
        <p:spPr>
          <a:xfrm>
            <a:off x="7863840" y="3017520"/>
            <a:ext cx="2743200" cy="2743200"/>
          </a:xfrm>
          <a:prstGeom prst="rect">
            <a:avLst/>
          </a:prstGeom>
          <a:noFill/>
        </p:spPr>
        <p:txBody>
          <a:bodyPr wrap="square">
            <a:spAutoFit/>
          </a:bodyPr>
          <a:lstStyle/>
          <a:p>
            <a:pPr>
              <a:spcAft>
                <a:spcPts val="800"/>
              </a:spcAft>
            </a:pPr>
            <a:r>
              <a:rPr sz="1200">
                <a:solidFill>
                  <a:srgbClr val="D4B483"/>
                </a:solidFill>
                <a:latin typeface="Helvetica Neue"/>
              </a:rPr>
              <a:t>●  </a:t>
            </a:r>
            <a:r>
              <a:rPr sz="1400">
                <a:solidFill>
                  <a:srgbClr val="6B666A"/>
                </a:solidFill>
                <a:latin typeface="Helvetica Neue"/>
              </a:rPr>
              <a:t>B2B partnerships (therapists, corporates)</a:t>
            </a:r>
          </a:p>
          <a:p>
            <a:pPr>
              <a:spcAft>
                <a:spcPts val="800"/>
              </a:spcAft>
            </a:pPr>
            <a:r>
              <a:rPr sz="1200">
                <a:solidFill>
                  <a:srgbClr val="D4B483"/>
                </a:solidFill>
                <a:latin typeface="Helvetica Neue"/>
              </a:rPr>
              <a:t>●  </a:t>
            </a:r>
            <a:r>
              <a:rPr sz="1400">
                <a:solidFill>
                  <a:srgbClr val="6B666A"/>
                </a:solidFill>
                <a:latin typeface="Helvetica Neue"/>
              </a:rPr>
              <a:t>Android expansion</a:t>
            </a:r>
          </a:p>
          <a:p>
            <a:pPr>
              <a:spcAft>
                <a:spcPts val="800"/>
              </a:spcAft>
            </a:pPr>
            <a:r>
              <a:rPr sz="1200">
                <a:solidFill>
                  <a:srgbClr val="D4B483"/>
                </a:solidFill>
                <a:latin typeface="Helvetica Neue"/>
              </a:rPr>
              <a:t>●  </a:t>
            </a:r>
            <a:r>
              <a:rPr sz="1400">
                <a:solidFill>
                  <a:srgbClr val="6B666A"/>
                </a:solidFill>
                <a:latin typeface="Helvetica Neue"/>
              </a:rPr>
              <a:t>Apple Watch companion app</a:t>
            </a:r>
          </a:p>
          <a:p>
            <a:pPr>
              <a:spcAft>
                <a:spcPts val="800"/>
              </a:spcAft>
            </a:pPr>
            <a:r>
              <a:rPr sz="1200">
                <a:solidFill>
                  <a:srgbClr val="D4B483"/>
                </a:solidFill>
                <a:latin typeface="Helvetica Neue"/>
              </a:rPr>
              <a:t>●  </a:t>
            </a:r>
            <a:r>
              <a:rPr sz="1400">
                <a:solidFill>
                  <a:srgbClr val="6B666A"/>
                </a:solidFill>
                <a:latin typeface="Helvetica Neue"/>
              </a:rPr>
              <a:t>International localization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914400" y="731520"/>
            <a:ext cx="1828800" cy="38100"/>
          </a:xfrm>
          <a:prstGeom prst="rect">
            <a:avLst/>
          </a:prstGeom>
          <a:solidFill>
            <a:srgbClr val="D4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058400" cy="640080"/>
          </a:xfrm>
          <a:prstGeom prst="rect">
            <a:avLst/>
          </a:prstGeom>
          <a:noFill/>
        </p:spPr>
        <p:txBody>
          <a:bodyPr wrap="square">
            <a:spAutoFit/>
          </a:bodyPr>
          <a:lstStyle/>
          <a:p>
            <a:pPr algn="l">
              <a:defRPr sz="3600" b="1">
                <a:solidFill>
                  <a:srgbClr val="3A363B"/>
                </a:solidFill>
                <a:latin typeface="Helvetica Neue"/>
              </a:defRPr>
            </a:pPr>
            <a:r>
              <a:t>Marketing Strategy</a:t>
            </a:r>
          </a:p>
        </p:txBody>
      </p:sp>
      <p:sp>
        <p:nvSpPr>
          <p:cNvPr id="4" name="Rounded Rectangle 3"/>
          <p:cNvSpPr/>
          <p:nvPr/>
        </p:nvSpPr>
        <p:spPr>
          <a:xfrm>
            <a:off x="914400" y="1828800"/>
            <a:ext cx="9601200" cy="1005840"/>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1920240"/>
            <a:ext cx="2743200" cy="365760"/>
          </a:xfrm>
          <a:prstGeom prst="rect">
            <a:avLst/>
          </a:prstGeom>
          <a:noFill/>
        </p:spPr>
        <p:txBody>
          <a:bodyPr wrap="square">
            <a:spAutoFit/>
          </a:bodyPr>
          <a:lstStyle/>
          <a:p>
            <a:pPr algn="l">
              <a:defRPr sz="1600" b="1">
                <a:solidFill>
                  <a:srgbClr val="D48B9A"/>
                </a:solidFill>
                <a:latin typeface="Helvetica Neue"/>
              </a:defRPr>
            </a:pPr>
            <a:r>
              <a:t>🎵 Content Marketing</a:t>
            </a:r>
          </a:p>
        </p:txBody>
      </p:sp>
      <p:sp>
        <p:nvSpPr>
          <p:cNvPr id="6" name="TextBox 5"/>
          <p:cNvSpPr txBox="1"/>
          <p:nvPr/>
        </p:nvSpPr>
        <p:spPr>
          <a:xfrm>
            <a:off x="1188720" y="2286000"/>
            <a:ext cx="8961120" cy="457200"/>
          </a:xfrm>
          <a:prstGeom prst="rect">
            <a:avLst/>
          </a:prstGeom>
          <a:noFill/>
        </p:spPr>
        <p:txBody>
          <a:bodyPr wrap="square">
            <a:spAutoFit/>
          </a:bodyPr>
          <a:lstStyle/>
          <a:p>
            <a:pPr algn="l">
              <a:defRPr sz="1400" b="0">
                <a:solidFill>
                  <a:srgbClr val="6B666A"/>
                </a:solidFill>
                <a:latin typeface="Helvetica Neue"/>
              </a:defRPr>
            </a:pPr>
            <a:r>
              <a:t>"The Science of Sound" blog series, YouTube demos of real-time sound generation, podcast guest appearances on wellness and music production shows</a:t>
            </a:r>
          </a:p>
        </p:txBody>
      </p:sp>
      <p:sp>
        <p:nvSpPr>
          <p:cNvPr id="7" name="Rounded Rectangle 6"/>
          <p:cNvSpPr/>
          <p:nvPr/>
        </p:nvSpPr>
        <p:spPr>
          <a:xfrm>
            <a:off x="914400" y="3017520"/>
            <a:ext cx="9601200" cy="1005840"/>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3108960"/>
            <a:ext cx="2743200" cy="365760"/>
          </a:xfrm>
          <a:prstGeom prst="rect">
            <a:avLst/>
          </a:prstGeom>
          <a:noFill/>
        </p:spPr>
        <p:txBody>
          <a:bodyPr wrap="square">
            <a:spAutoFit/>
          </a:bodyPr>
          <a:lstStyle/>
          <a:p>
            <a:pPr algn="l">
              <a:defRPr sz="1600" b="1">
                <a:solidFill>
                  <a:srgbClr val="D48B9A"/>
                </a:solidFill>
                <a:latin typeface="Helvetica Neue"/>
              </a:defRPr>
            </a:pPr>
            <a:r>
              <a:t>📱 Social Media</a:t>
            </a:r>
          </a:p>
        </p:txBody>
      </p:sp>
      <p:sp>
        <p:nvSpPr>
          <p:cNvPr id="9" name="TextBox 8"/>
          <p:cNvSpPr txBox="1"/>
          <p:nvPr/>
        </p:nvSpPr>
        <p:spPr>
          <a:xfrm>
            <a:off x="1188720" y="3474720"/>
            <a:ext cx="8961120" cy="457200"/>
          </a:xfrm>
          <a:prstGeom prst="rect">
            <a:avLst/>
          </a:prstGeom>
          <a:noFill/>
        </p:spPr>
        <p:txBody>
          <a:bodyPr wrap="square">
            <a:spAutoFit/>
          </a:bodyPr>
          <a:lstStyle/>
          <a:p>
            <a:pPr algn="l">
              <a:defRPr sz="1400" b="0">
                <a:solidFill>
                  <a:srgbClr val="6B666A"/>
                </a:solidFill>
                <a:latin typeface="Helvetica Neue"/>
              </a:defRPr>
            </a:pPr>
            <a:r>
              <a:t>Short-form video (TikTok/Reels) showing mood-to-music transformation, ASMR-style breathing demos, behind-the-scenes of audio synthesis</a:t>
            </a:r>
          </a:p>
        </p:txBody>
      </p:sp>
      <p:sp>
        <p:nvSpPr>
          <p:cNvPr id="10" name="Rounded Rectangle 9"/>
          <p:cNvSpPr/>
          <p:nvPr/>
        </p:nvSpPr>
        <p:spPr>
          <a:xfrm>
            <a:off x="914400" y="4206240"/>
            <a:ext cx="9601200" cy="1005840"/>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88720" y="4297679"/>
            <a:ext cx="2743200" cy="365760"/>
          </a:xfrm>
          <a:prstGeom prst="rect">
            <a:avLst/>
          </a:prstGeom>
          <a:noFill/>
        </p:spPr>
        <p:txBody>
          <a:bodyPr wrap="square">
            <a:spAutoFit/>
          </a:bodyPr>
          <a:lstStyle/>
          <a:p>
            <a:pPr algn="l">
              <a:defRPr sz="1600" b="1">
                <a:solidFill>
                  <a:srgbClr val="D48B9A"/>
                </a:solidFill>
                <a:latin typeface="Helvetica Neue"/>
              </a:defRPr>
            </a:pPr>
            <a:r>
              <a:t>🏫 Institutional Partnerships</a:t>
            </a:r>
          </a:p>
        </p:txBody>
      </p:sp>
      <p:sp>
        <p:nvSpPr>
          <p:cNvPr id="12" name="TextBox 11"/>
          <p:cNvSpPr txBox="1"/>
          <p:nvPr/>
        </p:nvSpPr>
        <p:spPr>
          <a:xfrm>
            <a:off x="1188720" y="4663440"/>
            <a:ext cx="8961120" cy="457200"/>
          </a:xfrm>
          <a:prstGeom prst="rect">
            <a:avLst/>
          </a:prstGeom>
          <a:noFill/>
        </p:spPr>
        <p:txBody>
          <a:bodyPr wrap="square">
            <a:spAutoFit/>
          </a:bodyPr>
          <a:lstStyle/>
          <a:p>
            <a:pPr algn="l">
              <a:defRPr sz="1400" b="0">
                <a:solidFill>
                  <a:srgbClr val="6B666A"/>
                </a:solidFill>
                <a:latin typeface="Helvetica Neue"/>
              </a:defRPr>
            </a:pPr>
            <a:r>
              <a:t>University wellness centers, therapy practices, corporate wellness programs. Offer free pilot programs with usage analytics</a:t>
            </a:r>
          </a:p>
        </p:txBody>
      </p:sp>
      <p:sp>
        <p:nvSpPr>
          <p:cNvPr id="13" name="Rounded Rectangle 12"/>
          <p:cNvSpPr/>
          <p:nvPr/>
        </p:nvSpPr>
        <p:spPr>
          <a:xfrm>
            <a:off x="914400" y="5394960"/>
            <a:ext cx="9601200" cy="1005840"/>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88720" y="5486400"/>
            <a:ext cx="2743200" cy="365760"/>
          </a:xfrm>
          <a:prstGeom prst="rect">
            <a:avLst/>
          </a:prstGeom>
          <a:noFill/>
        </p:spPr>
        <p:txBody>
          <a:bodyPr wrap="square">
            <a:spAutoFit/>
          </a:bodyPr>
          <a:lstStyle/>
          <a:p>
            <a:pPr algn="l">
              <a:defRPr sz="1600" b="1">
                <a:solidFill>
                  <a:srgbClr val="D48B9A"/>
                </a:solidFill>
                <a:latin typeface="Helvetica Neue"/>
              </a:defRPr>
            </a:pPr>
            <a:r>
              <a:t>🍎 Apple Ecosystem</a:t>
            </a:r>
          </a:p>
        </p:txBody>
      </p:sp>
      <p:sp>
        <p:nvSpPr>
          <p:cNvPr id="15" name="TextBox 14"/>
          <p:cNvSpPr txBox="1"/>
          <p:nvPr/>
        </p:nvSpPr>
        <p:spPr>
          <a:xfrm>
            <a:off x="1188720" y="5852160"/>
            <a:ext cx="8961120" cy="457200"/>
          </a:xfrm>
          <a:prstGeom prst="rect">
            <a:avLst/>
          </a:prstGeom>
          <a:noFill/>
        </p:spPr>
        <p:txBody>
          <a:bodyPr wrap="square">
            <a:spAutoFit/>
          </a:bodyPr>
          <a:lstStyle/>
          <a:p>
            <a:pPr algn="l">
              <a:defRPr sz="1400" b="0">
                <a:solidFill>
                  <a:srgbClr val="6B666A"/>
                </a:solidFill>
                <a:latin typeface="Helvetica Neue"/>
              </a:defRPr>
            </a:pPr>
            <a:r>
              <a:t>Target Apple Today tab features, leverage Developer Academy network, pursue Apple Design Award recognition for innovative use of AVAudioEngine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914400" y="731520"/>
            <a:ext cx="1828800" cy="38100"/>
          </a:xfrm>
          <a:prstGeom prst="rect">
            <a:avLst/>
          </a:prstGeom>
          <a:solidFill>
            <a:srgbClr val="D4B4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058400" cy="640080"/>
          </a:xfrm>
          <a:prstGeom prst="rect">
            <a:avLst/>
          </a:prstGeom>
          <a:noFill/>
        </p:spPr>
        <p:txBody>
          <a:bodyPr wrap="square">
            <a:spAutoFit/>
          </a:bodyPr>
          <a:lstStyle/>
          <a:p>
            <a:pPr algn="l">
              <a:defRPr sz="3600" b="1">
                <a:solidFill>
                  <a:srgbClr val="3A363B"/>
                </a:solidFill>
                <a:latin typeface="Helvetica Neue"/>
              </a:defRPr>
            </a:pPr>
            <a:r>
              <a:t>Financial Projections</a:t>
            </a:r>
          </a:p>
        </p:txBody>
      </p:sp>
      <p:sp>
        <p:nvSpPr>
          <p:cNvPr id="4" name="Rounded Rectangle 3"/>
          <p:cNvSpPr/>
          <p:nvPr/>
        </p:nvSpPr>
        <p:spPr>
          <a:xfrm>
            <a:off x="914400" y="2011680"/>
            <a:ext cx="3108960" cy="3200400"/>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2194560"/>
            <a:ext cx="2743200" cy="365760"/>
          </a:xfrm>
          <a:prstGeom prst="rect">
            <a:avLst/>
          </a:prstGeom>
          <a:noFill/>
        </p:spPr>
        <p:txBody>
          <a:bodyPr wrap="square">
            <a:spAutoFit/>
          </a:bodyPr>
          <a:lstStyle/>
          <a:p>
            <a:pPr algn="l">
              <a:defRPr sz="1800" b="1">
                <a:solidFill>
                  <a:srgbClr val="D4B483"/>
                </a:solidFill>
                <a:latin typeface="Helvetica Neue"/>
              </a:defRPr>
            </a:pPr>
            <a:r>
              <a:t>Year 1</a:t>
            </a:r>
          </a:p>
        </p:txBody>
      </p:sp>
      <p:sp>
        <p:nvSpPr>
          <p:cNvPr id="6" name="TextBox 5"/>
          <p:cNvSpPr txBox="1"/>
          <p:nvPr/>
        </p:nvSpPr>
        <p:spPr>
          <a:xfrm>
            <a:off x="1097280" y="2651760"/>
            <a:ext cx="2743200" cy="274320"/>
          </a:xfrm>
          <a:prstGeom prst="rect">
            <a:avLst/>
          </a:prstGeom>
          <a:noFill/>
        </p:spPr>
        <p:txBody>
          <a:bodyPr wrap="square">
            <a:spAutoFit/>
          </a:bodyPr>
          <a:lstStyle/>
          <a:p>
            <a:pPr algn="l">
              <a:defRPr sz="1200" b="0">
                <a:solidFill>
                  <a:srgbClr val="6B666A"/>
                </a:solidFill>
                <a:latin typeface="Helvetica Neue"/>
              </a:defRPr>
            </a:pPr>
            <a:r>
              <a:t>Total Users</a:t>
            </a:r>
          </a:p>
        </p:txBody>
      </p:sp>
      <p:sp>
        <p:nvSpPr>
          <p:cNvPr id="7" name="TextBox 6"/>
          <p:cNvSpPr txBox="1"/>
          <p:nvPr/>
        </p:nvSpPr>
        <p:spPr>
          <a:xfrm>
            <a:off x="1097280" y="2926080"/>
            <a:ext cx="2743200" cy="365760"/>
          </a:xfrm>
          <a:prstGeom prst="rect">
            <a:avLst/>
          </a:prstGeom>
          <a:noFill/>
        </p:spPr>
        <p:txBody>
          <a:bodyPr wrap="square">
            <a:spAutoFit/>
          </a:bodyPr>
          <a:lstStyle/>
          <a:p>
            <a:pPr algn="l">
              <a:defRPr sz="2800" b="1">
                <a:solidFill>
                  <a:srgbClr val="3A363B"/>
                </a:solidFill>
                <a:latin typeface="Helvetica Neue"/>
              </a:defRPr>
            </a:pPr>
            <a:r>
              <a:t>5,000</a:t>
            </a:r>
          </a:p>
        </p:txBody>
      </p:sp>
      <p:sp>
        <p:nvSpPr>
          <p:cNvPr id="8" name="TextBox 7"/>
          <p:cNvSpPr txBox="1"/>
          <p:nvPr/>
        </p:nvSpPr>
        <p:spPr>
          <a:xfrm>
            <a:off x="1097280" y="3383280"/>
            <a:ext cx="2743200" cy="274320"/>
          </a:xfrm>
          <a:prstGeom prst="rect">
            <a:avLst/>
          </a:prstGeom>
          <a:noFill/>
        </p:spPr>
        <p:txBody>
          <a:bodyPr wrap="square">
            <a:spAutoFit/>
          </a:bodyPr>
          <a:lstStyle/>
          <a:p>
            <a:pPr algn="l">
              <a:defRPr sz="1200" b="0">
                <a:solidFill>
                  <a:srgbClr val="6B666A"/>
                </a:solidFill>
                <a:latin typeface="Helvetica Neue"/>
              </a:defRPr>
            </a:pPr>
            <a:r>
              <a:t>Premium Subscribers</a:t>
            </a:r>
          </a:p>
        </p:txBody>
      </p:sp>
      <p:sp>
        <p:nvSpPr>
          <p:cNvPr id="9" name="TextBox 8"/>
          <p:cNvSpPr txBox="1"/>
          <p:nvPr/>
        </p:nvSpPr>
        <p:spPr>
          <a:xfrm>
            <a:off x="1097280" y="3657600"/>
            <a:ext cx="2743200" cy="365760"/>
          </a:xfrm>
          <a:prstGeom prst="rect">
            <a:avLst/>
          </a:prstGeom>
          <a:noFill/>
        </p:spPr>
        <p:txBody>
          <a:bodyPr wrap="square">
            <a:spAutoFit/>
          </a:bodyPr>
          <a:lstStyle/>
          <a:p>
            <a:pPr algn="l">
              <a:defRPr sz="2200" b="1">
                <a:solidFill>
                  <a:srgbClr val="7EB5A6"/>
                </a:solidFill>
                <a:latin typeface="Helvetica Neue"/>
              </a:defRPr>
            </a:pPr>
            <a:r>
              <a:t>500</a:t>
            </a:r>
          </a:p>
        </p:txBody>
      </p:sp>
      <p:sp>
        <p:nvSpPr>
          <p:cNvPr id="10" name="TextBox 9"/>
          <p:cNvSpPr txBox="1"/>
          <p:nvPr/>
        </p:nvSpPr>
        <p:spPr>
          <a:xfrm>
            <a:off x="1097280" y="4114800"/>
            <a:ext cx="2743200" cy="274320"/>
          </a:xfrm>
          <a:prstGeom prst="rect">
            <a:avLst/>
          </a:prstGeom>
          <a:noFill/>
        </p:spPr>
        <p:txBody>
          <a:bodyPr wrap="square">
            <a:spAutoFit/>
          </a:bodyPr>
          <a:lstStyle/>
          <a:p>
            <a:pPr algn="l">
              <a:defRPr sz="1400" b="0">
                <a:solidFill>
                  <a:srgbClr val="D4B483"/>
                </a:solidFill>
                <a:latin typeface="Helvetica Neue"/>
              </a:defRPr>
            </a:pPr>
            <a:r>
              <a:t>Projected ARR: $25K</a:t>
            </a:r>
          </a:p>
        </p:txBody>
      </p:sp>
      <p:sp>
        <p:nvSpPr>
          <p:cNvPr id="11" name="TextBox 10"/>
          <p:cNvSpPr txBox="1"/>
          <p:nvPr/>
        </p:nvSpPr>
        <p:spPr>
          <a:xfrm>
            <a:off x="1097280" y="4480560"/>
            <a:ext cx="2743200" cy="274320"/>
          </a:xfrm>
          <a:prstGeom prst="rect">
            <a:avLst/>
          </a:prstGeom>
          <a:noFill/>
        </p:spPr>
        <p:txBody>
          <a:bodyPr wrap="square">
            <a:spAutoFit/>
          </a:bodyPr>
          <a:lstStyle/>
          <a:p>
            <a:pPr algn="l">
              <a:defRPr sz="1200" b="0">
                <a:solidFill>
                  <a:srgbClr val="6B666A"/>
                </a:solidFill>
                <a:latin typeface="Helvetica Neue"/>
              </a:defRPr>
            </a:pPr>
            <a:r>
              <a:t>Focus: Build &amp; validate</a:t>
            </a:r>
          </a:p>
        </p:txBody>
      </p:sp>
      <p:sp>
        <p:nvSpPr>
          <p:cNvPr id="12" name="Rounded Rectangle 11"/>
          <p:cNvSpPr/>
          <p:nvPr/>
        </p:nvSpPr>
        <p:spPr>
          <a:xfrm>
            <a:off x="4297680" y="2011680"/>
            <a:ext cx="3108960" cy="3200400"/>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60" y="2194560"/>
            <a:ext cx="2743200" cy="365760"/>
          </a:xfrm>
          <a:prstGeom prst="rect">
            <a:avLst/>
          </a:prstGeom>
          <a:noFill/>
        </p:spPr>
        <p:txBody>
          <a:bodyPr wrap="square">
            <a:spAutoFit/>
          </a:bodyPr>
          <a:lstStyle/>
          <a:p>
            <a:pPr algn="l">
              <a:defRPr sz="1800" b="1">
                <a:solidFill>
                  <a:srgbClr val="D4B483"/>
                </a:solidFill>
                <a:latin typeface="Helvetica Neue"/>
              </a:defRPr>
            </a:pPr>
            <a:r>
              <a:t>Year 2</a:t>
            </a:r>
          </a:p>
        </p:txBody>
      </p:sp>
      <p:sp>
        <p:nvSpPr>
          <p:cNvPr id="14" name="TextBox 13"/>
          <p:cNvSpPr txBox="1"/>
          <p:nvPr/>
        </p:nvSpPr>
        <p:spPr>
          <a:xfrm>
            <a:off x="4480560" y="2651760"/>
            <a:ext cx="2743200" cy="274320"/>
          </a:xfrm>
          <a:prstGeom prst="rect">
            <a:avLst/>
          </a:prstGeom>
          <a:noFill/>
        </p:spPr>
        <p:txBody>
          <a:bodyPr wrap="square">
            <a:spAutoFit/>
          </a:bodyPr>
          <a:lstStyle/>
          <a:p>
            <a:pPr algn="l">
              <a:defRPr sz="1200" b="0">
                <a:solidFill>
                  <a:srgbClr val="6B666A"/>
                </a:solidFill>
                <a:latin typeface="Helvetica Neue"/>
              </a:defRPr>
            </a:pPr>
            <a:r>
              <a:t>Total Users</a:t>
            </a:r>
          </a:p>
        </p:txBody>
      </p:sp>
      <p:sp>
        <p:nvSpPr>
          <p:cNvPr id="15" name="TextBox 14"/>
          <p:cNvSpPr txBox="1"/>
          <p:nvPr/>
        </p:nvSpPr>
        <p:spPr>
          <a:xfrm>
            <a:off x="4480560" y="2926080"/>
            <a:ext cx="2743200" cy="365760"/>
          </a:xfrm>
          <a:prstGeom prst="rect">
            <a:avLst/>
          </a:prstGeom>
          <a:noFill/>
        </p:spPr>
        <p:txBody>
          <a:bodyPr wrap="square">
            <a:spAutoFit/>
          </a:bodyPr>
          <a:lstStyle/>
          <a:p>
            <a:pPr algn="l">
              <a:defRPr sz="2800" b="1">
                <a:solidFill>
                  <a:srgbClr val="3A363B"/>
                </a:solidFill>
                <a:latin typeface="Helvetica Neue"/>
              </a:defRPr>
            </a:pPr>
            <a:r>
              <a:t>25,000</a:t>
            </a:r>
          </a:p>
        </p:txBody>
      </p:sp>
      <p:sp>
        <p:nvSpPr>
          <p:cNvPr id="16" name="TextBox 15"/>
          <p:cNvSpPr txBox="1"/>
          <p:nvPr/>
        </p:nvSpPr>
        <p:spPr>
          <a:xfrm>
            <a:off x="4480560" y="3383280"/>
            <a:ext cx="2743200" cy="274320"/>
          </a:xfrm>
          <a:prstGeom prst="rect">
            <a:avLst/>
          </a:prstGeom>
          <a:noFill/>
        </p:spPr>
        <p:txBody>
          <a:bodyPr wrap="square">
            <a:spAutoFit/>
          </a:bodyPr>
          <a:lstStyle/>
          <a:p>
            <a:pPr algn="l">
              <a:defRPr sz="1200" b="0">
                <a:solidFill>
                  <a:srgbClr val="6B666A"/>
                </a:solidFill>
                <a:latin typeface="Helvetica Neue"/>
              </a:defRPr>
            </a:pPr>
            <a:r>
              <a:t>Premium Subscribers</a:t>
            </a:r>
          </a:p>
        </p:txBody>
      </p:sp>
      <p:sp>
        <p:nvSpPr>
          <p:cNvPr id="17" name="TextBox 16"/>
          <p:cNvSpPr txBox="1"/>
          <p:nvPr/>
        </p:nvSpPr>
        <p:spPr>
          <a:xfrm>
            <a:off x="4480560" y="3657600"/>
            <a:ext cx="2743200" cy="365760"/>
          </a:xfrm>
          <a:prstGeom prst="rect">
            <a:avLst/>
          </a:prstGeom>
          <a:noFill/>
        </p:spPr>
        <p:txBody>
          <a:bodyPr wrap="square">
            <a:spAutoFit/>
          </a:bodyPr>
          <a:lstStyle/>
          <a:p>
            <a:pPr algn="l">
              <a:defRPr sz="2200" b="1">
                <a:solidFill>
                  <a:srgbClr val="7EB5A6"/>
                </a:solidFill>
                <a:latin typeface="Helvetica Neue"/>
              </a:defRPr>
            </a:pPr>
            <a:r>
              <a:t>3,750</a:t>
            </a:r>
          </a:p>
        </p:txBody>
      </p:sp>
      <p:sp>
        <p:nvSpPr>
          <p:cNvPr id="18" name="TextBox 17"/>
          <p:cNvSpPr txBox="1"/>
          <p:nvPr/>
        </p:nvSpPr>
        <p:spPr>
          <a:xfrm>
            <a:off x="4480560" y="4114800"/>
            <a:ext cx="2743200" cy="274320"/>
          </a:xfrm>
          <a:prstGeom prst="rect">
            <a:avLst/>
          </a:prstGeom>
          <a:noFill/>
        </p:spPr>
        <p:txBody>
          <a:bodyPr wrap="square">
            <a:spAutoFit/>
          </a:bodyPr>
          <a:lstStyle/>
          <a:p>
            <a:pPr algn="l">
              <a:defRPr sz="1400" b="0">
                <a:solidFill>
                  <a:srgbClr val="D4B483"/>
                </a:solidFill>
                <a:latin typeface="Helvetica Neue"/>
              </a:defRPr>
            </a:pPr>
            <a:r>
              <a:t>Projected ARR: $180K</a:t>
            </a:r>
          </a:p>
        </p:txBody>
      </p:sp>
      <p:sp>
        <p:nvSpPr>
          <p:cNvPr id="19" name="TextBox 18"/>
          <p:cNvSpPr txBox="1"/>
          <p:nvPr/>
        </p:nvSpPr>
        <p:spPr>
          <a:xfrm>
            <a:off x="4480560" y="4480560"/>
            <a:ext cx="2743200" cy="274320"/>
          </a:xfrm>
          <a:prstGeom prst="rect">
            <a:avLst/>
          </a:prstGeom>
          <a:noFill/>
        </p:spPr>
        <p:txBody>
          <a:bodyPr wrap="square">
            <a:spAutoFit/>
          </a:bodyPr>
          <a:lstStyle/>
          <a:p>
            <a:pPr algn="l">
              <a:defRPr sz="1200" b="0">
                <a:solidFill>
                  <a:srgbClr val="6B666A"/>
                </a:solidFill>
                <a:latin typeface="Helvetica Neue"/>
              </a:defRPr>
            </a:pPr>
            <a:r>
              <a:t>Focus: Growth &amp; retention</a:t>
            </a:r>
          </a:p>
        </p:txBody>
      </p:sp>
      <p:sp>
        <p:nvSpPr>
          <p:cNvPr id="20" name="Rounded Rectangle 19"/>
          <p:cNvSpPr/>
          <p:nvPr/>
        </p:nvSpPr>
        <p:spPr>
          <a:xfrm>
            <a:off x="7680960" y="2011680"/>
            <a:ext cx="3108960" cy="3200400"/>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0" y="2194560"/>
            <a:ext cx="2743200" cy="365760"/>
          </a:xfrm>
          <a:prstGeom prst="rect">
            <a:avLst/>
          </a:prstGeom>
          <a:noFill/>
        </p:spPr>
        <p:txBody>
          <a:bodyPr wrap="square">
            <a:spAutoFit/>
          </a:bodyPr>
          <a:lstStyle/>
          <a:p>
            <a:pPr algn="l">
              <a:defRPr sz="1800" b="1">
                <a:solidFill>
                  <a:srgbClr val="D4B483"/>
                </a:solidFill>
                <a:latin typeface="Helvetica Neue"/>
              </a:defRPr>
            </a:pPr>
            <a:r>
              <a:t>Year 3</a:t>
            </a:r>
          </a:p>
        </p:txBody>
      </p:sp>
      <p:sp>
        <p:nvSpPr>
          <p:cNvPr id="22" name="TextBox 21"/>
          <p:cNvSpPr txBox="1"/>
          <p:nvPr/>
        </p:nvSpPr>
        <p:spPr>
          <a:xfrm>
            <a:off x="7863840" y="2651760"/>
            <a:ext cx="2743200" cy="274320"/>
          </a:xfrm>
          <a:prstGeom prst="rect">
            <a:avLst/>
          </a:prstGeom>
          <a:noFill/>
        </p:spPr>
        <p:txBody>
          <a:bodyPr wrap="square">
            <a:spAutoFit/>
          </a:bodyPr>
          <a:lstStyle/>
          <a:p>
            <a:pPr algn="l">
              <a:defRPr sz="1200" b="0">
                <a:solidFill>
                  <a:srgbClr val="6B666A"/>
                </a:solidFill>
                <a:latin typeface="Helvetica Neue"/>
              </a:defRPr>
            </a:pPr>
            <a:r>
              <a:t>Total Users</a:t>
            </a:r>
          </a:p>
        </p:txBody>
      </p:sp>
      <p:sp>
        <p:nvSpPr>
          <p:cNvPr id="23" name="TextBox 22"/>
          <p:cNvSpPr txBox="1"/>
          <p:nvPr/>
        </p:nvSpPr>
        <p:spPr>
          <a:xfrm>
            <a:off x="7863840" y="2926080"/>
            <a:ext cx="2743200" cy="365760"/>
          </a:xfrm>
          <a:prstGeom prst="rect">
            <a:avLst/>
          </a:prstGeom>
          <a:noFill/>
        </p:spPr>
        <p:txBody>
          <a:bodyPr wrap="square">
            <a:spAutoFit/>
          </a:bodyPr>
          <a:lstStyle/>
          <a:p>
            <a:pPr algn="l">
              <a:defRPr sz="2800" b="1">
                <a:solidFill>
                  <a:srgbClr val="3A363B"/>
                </a:solidFill>
                <a:latin typeface="Helvetica Neue"/>
              </a:defRPr>
            </a:pPr>
            <a:r>
              <a:t>100,000</a:t>
            </a:r>
          </a:p>
        </p:txBody>
      </p:sp>
      <p:sp>
        <p:nvSpPr>
          <p:cNvPr id="24" name="TextBox 23"/>
          <p:cNvSpPr txBox="1"/>
          <p:nvPr/>
        </p:nvSpPr>
        <p:spPr>
          <a:xfrm>
            <a:off x="7863840" y="3383280"/>
            <a:ext cx="2743200" cy="274320"/>
          </a:xfrm>
          <a:prstGeom prst="rect">
            <a:avLst/>
          </a:prstGeom>
          <a:noFill/>
        </p:spPr>
        <p:txBody>
          <a:bodyPr wrap="square">
            <a:spAutoFit/>
          </a:bodyPr>
          <a:lstStyle/>
          <a:p>
            <a:pPr algn="l">
              <a:defRPr sz="1200" b="0">
                <a:solidFill>
                  <a:srgbClr val="6B666A"/>
                </a:solidFill>
                <a:latin typeface="Helvetica Neue"/>
              </a:defRPr>
            </a:pPr>
            <a:r>
              <a:t>Premium Subscribers</a:t>
            </a:r>
          </a:p>
        </p:txBody>
      </p:sp>
      <p:sp>
        <p:nvSpPr>
          <p:cNvPr id="25" name="TextBox 24"/>
          <p:cNvSpPr txBox="1"/>
          <p:nvPr/>
        </p:nvSpPr>
        <p:spPr>
          <a:xfrm>
            <a:off x="7863840" y="3657600"/>
            <a:ext cx="2743200" cy="365760"/>
          </a:xfrm>
          <a:prstGeom prst="rect">
            <a:avLst/>
          </a:prstGeom>
          <a:noFill/>
        </p:spPr>
        <p:txBody>
          <a:bodyPr wrap="square">
            <a:spAutoFit/>
          </a:bodyPr>
          <a:lstStyle/>
          <a:p>
            <a:pPr algn="l">
              <a:defRPr sz="2200" b="1">
                <a:solidFill>
                  <a:srgbClr val="7EB5A6"/>
                </a:solidFill>
                <a:latin typeface="Helvetica Neue"/>
              </a:defRPr>
            </a:pPr>
            <a:r>
              <a:t>20,000</a:t>
            </a:r>
          </a:p>
        </p:txBody>
      </p:sp>
      <p:sp>
        <p:nvSpPr>
          <p:cNvPr id="26" name="TextBox 25"/>
          <p:cNvSpPr txBox="1"/>
          <p:nvPr/>
        </p:nvSpPr>
        <p:spPr>
          <a:xfrm>
            <a:off x="7863840" y="4114800"/>
            <a:ext cx="2743200" cy="274320"/>
          </a:xfrm>
          <a:prstGeom prst="rect">
            <a:avLst/>
          </a:prstGeom>
          <a:noFill/>
        </p:spPr>
        <p:txBody>
          <a:bodyPr wrap="square">
            <a:spAutoFit/>
          </a:bodyPr>
          <a:lstStyle/>
          <a:p>
            <a:pPr algn="l">
              <a:defRPr sz="1400" b="0">
                <a:solidFill>
                  <a:srgbClr val="D4B483"/>
                </a:solidFill>
                <a:latin typeface="Helvetica Neue"/>
              </a:defRPr>
            </a:pPr>
            <a:r>
              <a:t>Projected ARR: $960K</a:t>
            </a:r>
          </a:p>
        </p:txBody>
      </p:sp>
      <p:sp>
        <p:nvSpPr>
          <p:cNvPr id="27" name="TextBox 26"/>
          <p:cNvSpPr txBox="1"/>
          <p:nvPr/>
        </p:nvSpPr>
        <p:spPr>
          <a:xfrm>
            <a:off x="7863840" y="4480560"/>
            <a:ext cx="2743200" cy="274320"/>
          </a:xfrm>
          <a:prstGeom prst="rect">
            <a:avLst/>
          </a:prstGeom>
          <a:noFill/>
        </p:spPr>
        <p:txBody>
          <a:bodyPr wrap="square">
            <a:spAutoFit/>
          </a:bodyPr>
          <a:lstStyle/>
          <a:p>
            <a:pPr algn="l">
              <a:defRPr sz="1200" b="0">
                <a:solidFill>
                  <a:srgbClr val="6B666A"/>
                </a:solidFill>
                <a:latin typeface="Helvetica Neue"/>
              </a:defRPr>
            </a:pPr>
            <a:r>
              <a:t>Focus: Scale &amp; B2B</a:t>
            </a:r>
          </a:p>
        </p:txBody>
      </p:sp>
      <p:sp>
        <p:nvSpPr>
          <p:cNvPr id="28" name="TextBox 27"/>
          <p:cNvSpPr txBox="1"/>
          <p:nvPr/>
        </p:nvSpPr>
        <p:spPr>
          <a:xfrm>
            <a:off x="914400" y="5486400"/>
            <a:ext cx="9601200" cy="1371600"/>
          </a:xfrm>
          <a:prstGeom prst="rect">
            <a:avLst/>
          </a:prstGeom>
          <a:noFill/>
        </p:spPr>
        <p:txBody>
          <a:bodyPr wrap="square">
            <a:spAutoFit/>
          </a:bodyPr>
          <a:lstStyle/>
          <a:p>
            <a:pPr>
              <a:spcAft>
                <a:spcPts val="800"/>
              </a:spcAft>
            </a:pPr>
            <a:r>
              <a:rPr sz="1100">
                <a:solidFill>
                  <a:srgbClr val="D4B483"/>
                </a:solidFill>
                <a:latin typeface="Helvetica Neue"/>
              </a:rPr>
              <a:t>●  </a:t>
            </a:r>
            <a:r>
              <a:rPr sz="1300">
                <a:solidFill>
                  <a:srgbClr val="9E9997"/>
                </a:solidFill>
                <a:latin typeface="Helvetica Neue"/>
              </a:rPr>
              <a:t>Assumes 10% free-to-premium conversion (industry avg: 5–12%)</a:t>
            </a:r>
          </a:p>
          <a:p>
            <a:pPr>
              <a:spcAft>
                <a:spcPts val="800"/>
              </a:spcAft>
            </a:pPr>
            <a:r>
              <a:rPr sz="1100">
                <a:solidFill>
                  <a:srgbClr val="D4B483"/>
                </a:solidFill>
                <a:latin typeface="Helvetica Neue"/>
              </a:rPr>
              <a:t>●  </a:t>
            </a:r>
            <a:r>
              <a:rPr sz="1300">
                <a:solidFill>
                  <a:srgbClr val="9E9997"/>
                </a:solidFill>
                <a:latin typeface="Helvetica Neue"/>
              </a:rPr>
              <a:t>Premium ARPU of $48/year (blended monthly + annual)</a:t>
            </a:r>
          </a:p>
          <a:p>
            <a:pPr>
              <a:spcAft>
                <a:spcPts val="800"/>
              </a:spcAft>
            </a:pPr>
            <a:r>
              <a:rPr sz="1100">
                <a:solidFill>
                  <a:srgbClr val="D4B483"/>
                </a:solidFill>
                <a:latin typeface="Helvetica Neue"/>
              </a:rPr>
              <a:t>●  </a:t>
            </a:r>
            <a:r>
              <a:rPr sz="1300">
                <a:solidFill>
                  <a:srgbClr val="9E9997"/>
                </a:solidFill>
                <a:latin typeface="Helvetica Neue"/>
              </a:rPr>
              <a:t>B2B revenue not included in Year 1–2 projections</a:t>
            </a:r>
          </a:p>
          <a:p>
            <a:pPr>
              <a:spcAft>
                <a:spcPts val="800"/>
              </a:spcAft>
            </a:pPr>
            <a:r>
              <a:rPr sz="1100">
                <a:solidFill>
                  <a:srgbClr val="D4B483"/>
                </a:solidFill>
                <a:latin typeface="Helvetica Neue"/>
              </a:rPr>
              <a:t>●  </a:t>
            </a:r>
            <a:r>
              <a:rPr sz="1300">
                <a:solidFill>
                  <a:srgbClr val="9E9997"/>
                </a:solidFill>
                <a:latin typeface="Helvetica Neue"/>
              </a:rPr>
              <a:t>CAC target: &lt;$3.00 through organic and partnership channels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914400" y="731520"/>
            <a:ext cx="1828800" cy="38100"/>
          </a:xfrm>
          <a:prstGeom prst="rect">
            <a:avLst/>
          </a:prstGeom>
          <a:solidFill>
            <a:srgbClr val="9B8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058400" cy="640080"/>
          </a:xfrm>
          <a:prstGeom prst="rect">
            <a:avLst/>
          </a:prstGeom>
          <a:noFill/>
        </p:spPr>
        <p:txBody>
          <a:bodyPr wrap="square">
            <a:spAutoFit/>
          </a:bodyPr>
          <a:lstStyle/>
          <a:p>
            <a:pPr algn="l">
              <a:defRPr sz="3600" b="1">
                <a:solidFill>
                  <a:srgbClr val="3A363B"/>
                </a:solidFill>
                <a:latin typeface="Helvetica Neue"/>
              </a:defRPr>
            </a:pPr>
            <a:r>
              <a:t>Development Roadmap</a:t>
            </a:r>
          </a:p>
        </p:txBody>
      </p:sp>
      <p:sp>
        <p:nvSpPr>
          <p:cNvPr id="4" name="Rounded Rectangle 3"/>
          <p:cNvSpPr/>
          <p:nvPr/>
        </p:nvSpPr>
        <p:spPr>
          <a:xfrm>
            <a:off x="914400" y="2011680"/>
            <a:ext cx="2377440" cy="4114800"/>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2194560"/>
            <a:ext cx="2011680" cy="274320"/>
          </a:xfrm>
          <a:prstGeom prst="rect">
            <a:avLst/>
          </a:prstGeom>
          <a:noFill/>
        </p:spPr>
        <p:txBody>
          <a:bodyPr wrap="square">
            <a:spAutoFit/>
          </a:bodyPr>
          <a:lstStyle/>
          <a:p>
            <a:pPr algn="ctr">
              <a:defRPr sz="1300" b="1">
                <a:solidFill>
                  <a:srgbClr val="7EB5A6"/>
                </a:solidFill>
                <a:latin typeface="Helvetica Neue"/>
              </a:defRPr>
            </a:pPr>
            <a:r>
              <a:t>Q2 2026</a:t>
            </a:r>
          </a:p>
        </p:txBody>
      </p:sp>
      <p:sp>
        <p:nvSpPr>
          <p:cNvPr id="6" name="TextBox 5"/>
          <p:cNvSpPr txBox="1"/>
          <p:nvPr/>
        </p:nvSpPr>
        <p:spPr>
          <a:xfrm>
            <a:off x="1097280" y="2468880"/>
            <a:ext cx="2011680" cy="365760"/>
          </a:xfrm>
          <a:prstGeom prst="rect">
            <a:avLst/>
          </a:prstGeom>
          <a:noFill/>
        </p:spPr>
        <p:txBody>
          <a:bodyPr wrap="square">
            <a:spAutoFit/>
          </a:bodyPr>
          <a:lstStyle/>
          <a:p>
            <a:pPr algn="ctr">
              <a:defRPr sz="1700" b="1">
                <a:solidFill>
                  <a:srgbClr val="3A363B"/>
                </a:solidFill>
                <a:latin typeface="Helvetica Neue"/>
              </a:defRPr>
            </a:pPr>
            <a:r>
              <a:t>MVP Launch</a:t>
            </a:r>
          </a:p>
        </p:txBody>
      </p:sp>
      <p:sp>
        <p:nvSpPr>
          <p:cNvPr id="7" name="TextBox 6"/>
          <p:cNvSpPr txBox="1"/>
          <p:nvPr/>
        </p:nvSpPr>
        <p:spPr>
          <a:xfrm>
            <a:off x="1097280" y="3017520"/>
            <a:ext cx="2011680" cy="2743200"/>
          </a:xfrm>
          <a:prstGeom prst="rect">
            <a:avLst/>
          </a:prstGeom>
          <a:noFill/>
        </p:spPr>
        <p:txBody>
          <a:bodyPr wrap="square">
            <a:spAutoFit/>
          </a:bodyPr>
          <a:lstStyle/>
          <a:p>
            <a:pPr>
              <a:spcAft>
                <a:spcPts val="800"/>
              </a:spcAft>
            </a:pPr>
            <a:r>
              <a:rPr sz="1100">
                <a:solidFill>
                  <a:srgbClr val="7EB5A6"/>
                </a:solidFill>
                <a:latin typeface="Helvetica Neue"/>
              </a:rPr>
              <a:t>●  </a:t>
            </a:r>
            <a:r>
              <a:rPr sz="1300">
                <a:solidFill>
                  <a:srgbClr val="6B666A"/>
                </a:solidFill>
                <a:latin typeface="Helvetica Neue"/>
              </a:rPr>
              <a:t>Core 4-screen app on App Store</a:t>
            </a:r>
          </a:p>
          <a:p>
            <a:pPr>
              <a:spcAft>
                <a:spcPts val="800"/>
              </a:spcAft>
            </a:pPr>
            <a:r>
              <a:rPr sz="1100">
                <a:solidFill>
                  <a:srgbClr val="7EB5A6"/>
                </a:solidFill>
                <a:latin typeface="Helvetica Neue"/>
              </a:rPr>
              <a:t>●  </a:t>
            </a:r>
            <a:r>
              <a:rPr sz="1300">
                <a:solidFill>
                  <a:srgbClr val="6B666A"/>
                </a:solidFill>
                <a:latin typeface="Helvetica Neue"/>
              </a:rPr>
              <a:t>3 breathing soundscapes</a:t>
            </a:r>
          </a:p>
          <a:p>
            <a:pPr>
              <a:spcAft>
                <a:spcPts val="800"/>
              </a:spcAft>
            </a:pPr>
            <a:r>
              <a:rPr sz="1100">
                <a:solidFill>
                  <a:srgbClr val="7EB5A6"/>
                </a:solidFill>
                <a:latin typeface="Helvetica Neue"/>
              </a:rPr>
              <a:t>●  </a:t>
            </a:r>
            <a:r>
              <a:rPr sz="1300">
                <a:solidFill>
                  <a:srgbClr val="6B666A"/>
                </a:solidFill>
                <a:latin typeface="Helvetica Neue"/>
              </a:rPr>
              <a:t>Mood mapping + tap-to-regulate</a:t>
            </a:r>
          </a:p>
          <a:p>
            <a:pPr>
              <a:spcAft>
                <a:spcPts val="800"/>
              </a:spcAft>
            </a:pPr>
            <a:r>
              <a:rPr sz="1100">
                <a:solidFill>
                  <a:srgbClr val="7EB5A6"/>
                </a:solidFill>
                <a:latin typeface="Helvetica Neue"/>
              </a:rPr>
              <a:t>●  </a:t>
            </a:r>
            <a:r>
              <a:rPr sz="1300">
                <a:solidFill>
                  <a:srgbClr val="6B666A"/>
                </a:solidFill>
                <a:latin typeface="Helvetica Neue"/>
              </a:rPr>
              <a:t>Daily quote API integration</a:t>
            </a:r>
          </a:p>
        </p:txBody>
      </p:sp>
      <p:sp>
        <p:nvSpPr>
          <p:cNvPr id="8" name="Rounded Rectangle 7"/>
          <p:cNvSpPr/>
          <p:nvPr/>
        </p:nvSpPr>
        <p:spPr>
          <a:xfrm>
            <a:off x="3566160" y="2011680"/>
            <a:ext cx="2377440" cy="4114800"/>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49039" y="2194560"/>
            <a:ext cx="2011680" cy="274320"/>
          </a:xfrm>
          <a:prstGeom prst="rect">
            <a:avLst/>
          </a:prstGeom>
          <a:noFill/>
        </p:spPr>
        <p:txBody>
          <a:bodyPr wrap="square">
            <a:spAutoFit/>
          </a:bodyPr>
          <a:lstStyle/>
          <a:p>
            <a:pPr algn="ctr">
              <a:defRPr sz="1300" b="1">
                <a:solidFill>
                  <a:srgbClr val="9B8BC4"/>
                </a:solidFill>
                <a:latin typeface="Helvetica Neue"/>
              </a:defRPr>
            </a:pPr>
            <a:r>
              <a:t>Q3 2026</a:t>
            </a:r>
          </a:p>
        </p:txBody>
      </p:sp>
      <p:sp>
        <p:nvSpPr>
          <p:cNvPr id="10" name="TextBox 9"/>
          <p:cNvSpPr txBox="1"/>
          <p:nvPr/>
        </p:nvSpPr>
        <p:spPr>
          <a:xfrm>
            <a:off x="3749039" y="2468880"/>
            <a:ext cx="2011680" cy="365760"/>
          </a:xfrm>
          <a:prstGeom prst="rect">
            <a:avLst/>
          </a:prstGeom>
          <a:noFill/>
        </p:spPr>
        <p:txBody>
          <a:bodyPr wrap="square">
            <a:spAutoFit/>
          </a:bodyPr>
          <a:lstStyle/>
          <a:p>
            <a:pPr algn="ctr">
              <a:defRPr sz="1700" b="1">
                <a:solidFill>
                  <a:srgbClr val="3A363B"/>
                </a:solidFill>
                <a:latin typeface="Helvetica Neue"/>
              </a:defRPr>
            </a:pPr>
            <a:r>
              <a:t>Premium Features</a:t>
            </a:r>
          </a:p>
        </p:txBody>
      </p:sp>
      <p:sp>
        <p:nvSpPr>
          <p:cNvPr id="11" name="TextBox 10"/>
          <p:cNvSpPr txBox="1"/>
          <p:nvPr/>
        </p:nvSpPr>
        <p:spPr>
          <a:xfrm>
            <a:off x="3749039" y="3017520"/>
            <a:ext cx="2011680" cy="2743200"/>
          </a:xfrm>
          <a:prstGeom prst="rect">
            <a:avLst/>
          </a:prstGeom>
          <a:noFill/>
        </p:spPr>
        <p:txBody>
          <a:bodyPr wrap="square">
            <a:spAutoFit/>
          </a:bodyPr>
          <a:lstStyle/>
          <a:p>
            <a:pPr>
              <a:spcAft>
                <a:spcPts val="800"/>
              </a:spcAft>
            </a:pPr>
            <a:r>
              <a:rPr sz="1100">
                <a:solidFill>
                  <a:srgbClr val="9B8BC4"/>
                </a:solidFill>
                <a:latin typeface="Helvetica Neue"/>
              </a:rPr>
              <a:t>●  </a:t>
            </a:r>
            <a:r>
              <a:rPr sz="1300">
                <a:solidFill>
                  <a:srgbClr val="6B666A"/>
                </a:solidFill>
                <a:latin typeface="Helvetica Neue"/>
              </a:rPr>
              <a:t>Subscription with StoreKit 2</a:t>
            </a:r>
          </a:p>
          <a:p>
            <a:pPr>
              <a:spcAft>
                <a:spcPts val="800"/>
              </a:spcAft>
            </a:pPr>
            <a:r>
              <a:rPr sz="1100">
                <a:solidFill>
                  <a:srgbClr val="9B8BC4"/>
                </a:solidFill>
                <a:latin typeface="Helvetica Neue"/>
              </a:rPr>
              <a:t>●  </a:t>
            </a:r>
            <a:r>
              <a:rPr sz="1300">
                <a:solidFill>
                  <a:srgbClr val="6B666A"/>
                </a:solidFill>
                <a:latin typeface="Helvetica Neue"/>
              </a:rPr>
              <a:t>Expanded sound library</a:t>
            </a:r>
          </a:p>
          <a:p>
            <a:pPr>
              <a:spcAft>
                <a:spcPts val="800"/>
              </a:spcAft>
            </a:pPr>
            <a:r>
              <a:rPr sz="1100">
                <a:solidFill>
                  <a:srgbClr val="9B8BC4"/>
                </a:solidFill>
                <a:latin typeface="Helvetica Neue"/>
              </a:rPr>
              <a:t>●  </a:t>
            </a:r>
            <a:r>
              <a:rPr sz="1300">
                <a:solidFill>
                  <a:srgbClr val="6B666A"/>
                </a:solidFill>
                <a:latin typeface="Helvetica Neue"/>
              </a:rPr>
              <a:t>Offline audio generation</a:t>
            </a:r>
          </a:p>
          <a:p>
            <a:pPr>
              <a:spcAft>
                <a:spcPts val="800"/>
              </a:spcAft>
            </a:pPr>
            <a:r>
              <a:rPr sz="1100">
                <a:solidFill>
                  <a:srgbClr val="9B8BC4"/>
                </a:solidFill>
                <a:latin typeface="Helvetica Neue"/>
              </a:rPr>
              <a:t>●  </a:t>
            </a:r>
            <a:r>
              <a:rPr sz="1300">
                <a:solidFill>
                  <a:srgbClr val="6B666A"/>
                </a:solidFill>
                <a:latin typeface="Helvetica Neue"/>
              </a:rPr>
              <a:t>Usage analytics integration</a:t>
            </a:r>
          </a:p>
        </p:txBody>
      </p:sp>
      <p:sp>
        <p:nvSpPr>
          <p:cNvPr id="12" name="Rounded Rectangle 11"/>
          <p:cNvSpPr/>
          <p:nvPr/>
        </p:nvSpPr>
        <p:spPr>
          <a:xfrm>
            <a:off x="6217920" y="2011680"/>
            <a:ext cx="2377440" cy="4114800"/>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2194560"/>
            <a:ext cx="2011680" cy="274320"/>
          </a:xfrm>
          <a:prstGeom prst="rect">
            <a:avLst/>
          </a:prstGeom>
          <a:noFill/>
        </p:spPr>
        <p:txBody>
          <a:bodyPr wrap="square">
            <a:spAutoFit/>
          </a:bodyPr>
          <a:lstStyle/>
          <a:p>
            <a:pPr algn="ctr">
              <a:defRPr sz="1300" b="1">
                <a:solidFill>
                  <a:srgbClr val="D4B483"/>
                </a:solidFill>
                <a:latin typeface="Helvetica Neue"/>
              </a:defRPr>
            </a:pPr>
            <a:r>
              <a:t>Q4 2026</a:t>
            </a:r>
          </a:p>
        </p:txBody>
      </p:sp>
      <p:sp>
        <p:nvSpPr>
          <p:cNvPr id="14" name="TextBox 13"/>
          <p:cNvSpPr txBox="1"/>
          <p:nvPr/>
        </p:nvSpPr>
        <p:spPr>
          <a:xfrm>
            <a:off x="6400800" y="2468880"/>
            <a:ext cx="2011680" cy="365760"/>
          </a:xfrm>
          <a:prstGeom prst="rect">
            <a:avLst/>
          </a:prstGeom>
          <a:noFill/>
        </p:spPr>
        <p:txBody>
          <a:bodyPr wrap="square">
            <a:spAutoFit/>
          </a:bodyPr>
          <a:lstStyle/>
          <a:p>
            <a:pPr algn="ctr">
              <a:defRPr sz="1700" b="1">
                <a:solidFill>
                  <a:srgbClr val="3A363B"/>
                </a:solidFill>
                <a:latin typeface="Helvetica Neue"/>
              </a:defRPr>
            </a:pPr>
            <a:r>
              <a:t>Platform Expansion</a:t>
            </a:r>
          </a:p>
        </p:txBody>
      </p:sp>
      <p:sp>
        <p:nvSpPr>
          <p:cNvPr id="15" name="TextBox 14"/>
          <p:cNvSpPr txBox="1"/>
          <p:nvPr/>
        </p:nvSpPr>
        <p:spPr>
          <a:xfrm>
            <a:off x="6400800" y="3017520"/>
            <a:ext cx="2011680" cy="2743200"/>
          </a:xfrm>
          <a:prstGeom prst="rect">
            <a:avLst/>
          </a:prstGeom>
          <a:noFill/>
        </p:spPr>
        <p:txBody>
          <a:bodyPr wrap="square">
            <a:spAutoFit/>
          </a:bodyPr>
          <a:lstStyle/>
          <a:p>
            <a:pPr>
              <a:spcAft>
                <a:spcPts val="800"/>
              </a:spcAft>
            </a:pPr>
            <a:r>
              <a:rPr sz="1100">
                <a:solidFill>
                  <a:srgbClr val="D4B483"/>
                </a:solidFill>
                <a:latin typeface="Helvetica Neue"/>
              </a:rPr>
              <a:t>●  </a:t>
            </a:r>
            <a:r>
              <a:rPr sz="1300">
                <a:solidFill>
                  <a:srgbClr val="6B666A"/>
                </a:solidFill>
                <a:latin typeface="Helvetica Neue"/>
              </a:rPr>
              <a:t>Apple Watch haptic breathing</a:t>
            </a:r>
          </a:p>
          <a:p>
            <a:pPr>
              <a:spcAft>
                <a:spcPts val="800"/>
              </a:spcAft>
            </a:pPr>
            <a:r>
              <a:rPr sz="1100">
                <a:solidFill>
                  <a:srgbClr val="D4B483"/>
                </a:solidFill>
                <a:latin typeface="Helvetica Neue"/>
              </a:rPr>
              <a:t>●  </a:t>
            </a:r>
            <a:r>
              <a:rPr sz="1300">
                <a:solidFill>
                  <a:srgbClr val="6B666A"/>
                </a:solidFill>
                <a:latin typeface="Helvetica Neue"/>
              </a:rPr>
              <a:t>HealthKit integration</a:t>
            </a:r>
          </a:p>
          <a:p>
            <a:pPr>
              <a:spcAft>
                <a:spcPts val="800"/>
              </a:spcAft>
            </a:pPr>
            <a:r>
              <a:rPr sz="1100">
                <a:solidFill>
                  <a:srgbClr val="D4B483"/>
                </a:solidFill>
                <a:latin typeface="Helvetica Neue"/>
              </a:rPr>
              <a:t>●  </a:t>
            </a:r>
            <a:r>
              <a:rPr sz="1300">
                <a:solidFill>
                  <a:srgbClr val="6B666A"/>
                </a:solidFill>
                <a:latin typeface="Helvetica Neue"/>
              </a:rPr>
              <a:t>Siri Shortcuts support</a:t>
            </a:r>
          </a:p>
          <a:p>
            <a:pPr>
              <a:spcAft>
                <a:spcPts val="800"/>
              </a:spcAft>
            </a:pPr>
            <a:r>
              <a:rPr sz="1100">
                <a:solidFill>
                  <a:srgbClr val="D4B483"/>
                </a:solidFill>
                <a:latin typeface="Helvetica Neue"/>
              </a:rPr>
              <a:t>●  </a:t>
            </a:r>
            <a:r>
              <a:rPr sz="1300">
                <a:solidFill>
                  <a:srgbClr val="6B666A"/>
                </a:solidFill>
                <a:latin typeface="Helvetica Neue"/>
              </a:rPr>
              <a:t>Widget for Home Screen</a:t>
            </a:r>
          </a:p>
        </p:txBody>
      </p:sp>
      <p:sp>
        <p:nvSpPr>
          <p:cNvPr id="16" name="Rounded Rectangle 15"/>
          <p:cNvSpPr/>
          <p:nvPr/>
        </p:nvSpPr>
        <p:spPr>
          <a:xfrm>
            <a:off x="8869680" y="2011680"/>
            <a:ext cx="2377440" cy="4114800"/>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52559" y="2194560"/>
            <a:ext cx="2011680" cy="274320"/>
          </a:xfrm>
          <a:prstGeom prst="rect">
            <a:avLst/>
          </a:prstGeom>
          <a:noFill/>
        </p:spPr>
        <p:txBody>
          <a:bodyPr wrap="square">
            <a:spAutoFit/>
          </a:bodyPr>
          <a:lstStyle/>
          <a:p>
            <a:pPr algn="ctr">
              <a:defRPr sz="1300" b="1">
                <a:solidFill>
                  <a:srgbClr val="D48B9A"/>
                </a:solidFill>
                <a:latin typeface="Helvetica Neue"/>
              </a:defRPr>
            </a:pPr>
            <a:r>
              <a:t>Q1 2027</a:t>
            </a:r>
          </a:p>
        </p:txBody>
      </p:sp>
      <p:sp>
        <p:nvSpPr>
          <p:cNvPr id="18" name="TextBox 17"/>
          <p:cNvSpPr txBox="1"/>
          <p:nvPr/>
        </p:nvSpPr>
        <p:spPr>
          <a:xfrm>
            <a:off x="9052559" y="2468880"/>
            <a:ext cx="2011680" cy="365760"/>
          </a:xfrm>
          <a:prstGeom prst="rect">
            <a:avLst/>
          </a:prstGeom>
          <a:noFill/>
        </p:spPr>
        <p:txBody>
          <a:bodyPr wrap="square">
            <a:spAutoFit/>
          </a:bodyPr>
          <a:lstStyle/>
          <a:p>
            <a:pPr algn="ctr">
              <a:defRPr sz="1700" b="1">
                <a:solidFill>
                  <a:srgbClr val="3A363B"/>
                </a:solidFill>
                <a:latin typeface="Helvetica Neue"/>
              </a:defRPr>
            </a:pPr>
            <a:r>
              <a:t>Scale &amp; Ecosystem</a:t>
            </a:r>
          </a:p>
        </p:txBody>
      </p:sp>
      <p:sp>
        <p:nvSpPr>
          <p:cNvPr id="19" name="TextBox 18"/>
          <p:cNvSpPr txBox="1"/>
          <p:nvPr/>
        </p:nvSpPr>
        <p:spPr>
          <a:xfrm>
            <a:off x="9052559" y="3017520"/>
            <a:ext cx="2011680" cy="2743200"/>
          </a:xfrm>
          <a:prstGeom prst="rect">
            <a:avLst/>
          </a:prstGeom>
          <a:noFill/>
        </p:spPr>
        <p:txBody>
          <a:bodyPr wrap="square">
            <a:spAutoFit/>
          </a:bodyPr>
          <a:lstStyle/>
          <a:p>
            <a:pPr>
              <a:spcAft>
                <a:spcPts val="800"/>
              </a:spcAft>
            </a:pPr>
            <a:r>
              <a:rPr sz="1100">
                <a:solidFill>
                  <a:srgbClr val="D48B9A"/>
                </a:solidFill>
                <a:latin typeface="Helvetica Neue"/>
              </a:rPr>
              <a:t>●  </a:t>
            </a:r>
            <a:r>
              <a:rPr sz="1300">
                <a:solidFill>
                  <a:srgbClr val="6B666A"/>
                </a:solidFill>
                <a:latin typeface="Helvetica Neue"/>
              </a:rPr>
              <a:t>Android version (Kotlin)</a:t>
            </a:r>
          </a:p>
          <a:p>
            <a:pPr>
              <a:spcAft>
                <a:spcPts val="800"/>
              </a:spcAft>
            </a:pPr>
            <a:r>
              <a:rPr sz="1100">
                <a:solidFill>
                  <a:srgbClr val="D48B9A"/>
                </a:solidFill>
                <a:latin typeface="Helvetica Neue"/>
              </a:rPr>
              <a:t>●  </a:t>
            </a:r>
            <a:r>
              <a:rPr sz="1300">
                <a:solidFill>
                  <a:srgbClr val="6B666A"/>
                </a:solidFill>
                <a:latin typeface="Helvetica Neue"/>
              </a:rPr>
              <a:t>B2B dashboard for therapists</a:t>
            </a:r>
          </a:p>
          <a:p>
            <a:pPr>
              <a:spcAft>
                <a:spcPts val="800"/>
              </a:spcAft>
            </a:pPr>
            <a:r>
              <a:rPr sz="1100">
                <a:solidFill>
                  <a:srgbClr val="D48B9A"/>
                </a:solidFill>
                <a:latin typeface="Helvetica Neue"/>
              </a:rPr>
              <a:t>●  </a:t>
            </a:r>
            <a:r>
              <a:rPr sz="1300">
                <a:solidFill>
                  <a:srgbClr val="6B666A"/>
                </a:solidFill>
                <a:latin typeface="Helvetica Neue"/>
              </a:rPr>
              <a:t>API for third-party integration</a:t>
            </a:r>
          </a:p>
          <a:p>
            <a:pPr>
              <a:spcAft>
                <a:spcPts val="800"/>
              </a:spcAft>
            </a:pPr>
            <a:r>
              <a:rPr sz="1100">
                <a:solidFill>
                  <a:srgbClr val="D48B9A"/>
                </a:solidFill>
                <a:latin typeface="Helvetica Neue"/>
              </a:rPr>
              <a:t>●  </a:t>
            </a:r>
            <a:r>
              <a:rPr sz="1300">
                <a:solidFill>
                  <a:srgbClr val="6B666A"/>
                </a:solidFill>
                <a:latin typeface="Helvetica Neue"/>
              </a:rPr>
              <a:t>AI-driven mood prediction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914400" y="731520"/>
            <a:ext cx="1828800" cy="38100"/>
          </a:xfrm>
          <a:prstGeom prst="rect">
            <a:avLst/>
          </a:prstGeom>
          <a:solidFill>
            <a:srgbClr val="D4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058400" cy="640080"/>
          </a:xfrm>
          <a:prstGeom prst="rect">
            <a:avLst/>
          </a:prstGeom>
          <a:noFill/>
        </p:spPr>
        <p:txBody>
          <a:bodyPr wrap="square">
            <a:spAutoFit/>
          </a:bodyPr>
          <a:lstStyle/>
          <a:p>
            <a:pPr algn="l">
              <a:defRPr sz="3600" b="1">
                <a:solidFill>
                  <a:srgbClr val="3A363B"/>
                </a:solidFill>
                <a:latin typeface="Helvetica Neue"/>
              </a:defRPr>
            </a:pPr>
            <a:r>
              <a:t>Risk Analysis &amp; Mitigation</a:t>
            </a:r>
          </a:p>
        </p:txBody>
      </p:sp>
      <p:sp>
        <p:nvSpPr>
          <p:cNvPr id="4" name="Rounded Rectangle 3"/>
          <p:cNvSpPr/>
          <p:nvPr/>
        </p:nvSpPr>
        <p:spPr>
          <a:xfrm>
            <a:off x="914400" y="1828800"/>
            <a:ext cx="9601200" cy="1005840"/>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1874519"/>
            <a:ext cx="2286000" cy="320040"/>
          </a:xfrm>
          <a:prstGeom prst="rect">
            <a:avLst/>
          </a:prstGeom>
          <a:noFill/>
        </p:spPr>
        <p:txBody>
          <a:bodyPr wrap="square">
            <a:spAutoFit/>
          </a:bodyPr>
          <a:lstStyle/>
          <a:p>
            <a:pPr algn="l">
              <a:defRPr sz="1500" b="1">
                <a:solidFill>
                  <a:srgbClr val="D48B9A"/>
                </a:solidFill>
                <a:latin typeface="Helvetica Neue"/>
              </a:defRPr>
            </a:pPr>
            <a:r>
              <a:t>Market Saturation</a:t>
            </a:r>
          </a:p>
        </p:txBody>
      </p:sp>
      <p:sp>
        <p:nvSpPr>
          <p:cNvPr id="6" name="TextBox 5"/>
          <p:cNvSpPr txBox="1"/>
          <p:nvPr/>
        </p:nvSpPr>
        <p:spPr>
          <a:xfrm>
            <a:off x="1188720" y="2194560"/>
            <a:ext cx="4114800" cy="320040"/>
          </a:xfrm>
          <a:prstGeom prst="rect">
            <a:avLst/>
          </a:prstGeom>
          <a:noFill/>
        </p:spPr>
        <p:txBody>
          <a:bodyPr wrap="square">
            <a:spAutoFit/>
          </a:bodyPr>
          <a:lstStyle/>
          <a:p>
            <a:pPr algn="l">
              <a:defRPr sz="1300" b="0">
                <a:solidFill>
                  <a:srgbClr val="6B666A"/>
                </a:solidFill>
                <a:latin typeface="Helvetica Neue"/>
              </a:defRPr>
            </a:pPr>
            <a:r>
              <a:t>Crowded wellness app space with established players</a:t>
            </a:r>
          </a:p>
        </p:txBody>
      </p:sp>
      <p:sp>
        <p:nvSpPr>
          <p:cNvPr id="7" name="TextBox 6"/>
          <p:cNvSpPr txBox="1"/>
          <p:nvPr/>
        </p:nvSpPr>
        <p:spPr>
          <a:xfrm>
            <a:off x="5486400" y="1874519"/>
            <a:ext cx="1097280" cy="320040"/>
          </a:xfrm>
          <a:prstGeom prst="rect">
            <a:avLst/>
          </a:prstGeom>
          <a:noFill/>
        </p:spPr>
        <p:txBody>
          <a:bodyPr wrap="square">
            <a:spAutoFit/>
          </a:bodyPr>
          <a:lstStyle/>
          <a:p>
            <a:pPr algn="l">
              <a:defRPr sz="1200" b="1">
                <a:solidFill>
                  <a:srgbClr val="7EB5A6"/>
                </a:solidFill>
                <a:latin typeface="Helvetica Neue"/>
              </a:defRPr>
            </a:pPr>
            <a:r>
              <a:t>Mitigation:</a:t>
            </a:r>
          </a:p>
        </p:txBody>
      </p:sp>
      <p:sp>
        <p:nvSpPr>
          <p:cNvPr id="8" name="TextBox 7"/>
          <p:cNvSpPr txBox="1"/>
          <p:nvPr/>
        </p:nvSpPr>
        <p:spPr>
          <a:xfrm>
            <a:off x="5486400" y="2194560"/>
            <a:ext cx="4754880" cy="594360"/>
          </a:xfrm>
          <a:prstGeom prst="rect">
            <a:avLst/>
          </a:prstGeom>
          <a:noFill/>
        </p:spPr>
        <p:txBody>
          <a:bodyPr wrap="square">
            <a:spAutoFit/>
          </a:bodyPr>
          <a:lstStyle/>
          <a:p>
            <a:pPr algn="l">
              <a:defRPr sz="1300" b="0">
                <a:solidFill>
                  <a:srgbClr val="6B666A"/>
                </a:solidFill>
                <a:latin typeface="Helvetica Neue"/>
              </a:defRPr>
            </a:pPr>
            <a:r>
              <a:t>Differentiate through interactive sound (no competitor offers real-time synthesis + rhythm detection)</a:t>
            </a:r>
          </a:p>
        </p:txBody>
      </p:sp>
      <p:sp>
        <p:nvSpPr>
          <p:cNvPr id="9" name="Rounded Rectangle 8"/>
          <p:cNvSpPr/>
          <p:nvPr/>
        </p:nvSpPr>
        <p:spPr>
          <a:xfrm>
            <a:off x="914400" y="3017520"/>
            <a:ext cx="9601200" cy="1005840"/>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3063239"/>
            <a:ext cx="2286000" cy="320040"/>
          </a:xfrm>
          <a:prstGeom prst="rect">
            <a:avLst/>
          </a:prstGeom>
          <a:noFill/>
        </p:spPr>
        <p:txBody>
          <a:bodyPr wrap="square">
            <a:spAutoFit/>
          </a:bodyPr>
          <a:lstStyle/>
          <a:p>
            <a:pPr algn="l">
              <a:defRPr sz="1500" b="1">
                <a:solidFill>
                  <a:srgbClr val="D48B9A"/>
                </a:solidFill>
                <a:latin typeface="Helvetica Neue"/>
              </a:defRPr>
            </a:pPr>
            <a:r>
              <a:t>User Retention</a:t>
            </a:r>
          </a:p>
        </p:txBody>
      </p:sp>
      <p:sp>
        <p:nvSpPr>
          <p:cNvPr id="11" name="TextBox 10"/>
          <p:cNvSpPr txBox="1"/>
          <p:nvPr/>
        </p:nvSpPr>
        <p:spPr>
          <a:xfrm>
            <a:off x="1188720" y="3383279"/>
            <a:ext cx="4114800" cy="320040"/>
          </a:xfrm>
          <a:prstGeom prst="rect">
            <a:avLst/>
          </a:prstGeom>
          <a:noFill/>
        </p:spPr>
        <p:txBody>
          <a:bodyPr wrap="square">
            <a:spAutoFit/>
          </a:bodyPr>
          <a:lstStyle/>
          <a:p>
            <a:pPr algn="l">
              <a:defRPr sz="1300" b="0">
                <a:solidFill>
                  <a:srgbClr val="6B666A"/>
                </a:solidFill>
                <a:latin typeface="Helvetica Neue"/>
              </a:defRPr>
            </a:pPr>
            <a:r>
              <a:t>Wellness apps average 4% 30-day retention</a:t>
            </a:r>
          </a:p>
        </p:txBody>
      </p:sp>
      <p:sp>
        <p:nvSpPr>
          <p:cNvPr id="12" name="TextBox 11"/>
          <p:cNvSpPr txBox="1"/>
          <p:nvPr/>
        </p:nvSpPr>
        <p:spPr>
          <a:xfrm>
            <a:off x="5486400" y="3063239"/>
            <a:ext cx="1097280" cy="320040"/>
          </a:xfrm>
          <a:prstGeom prst="rect">
            <a:avLst/>
          </a:prstGeom>
          <a:noFill/>
        </p:spPr>
        <p:txBody>
          <a:bodyPr wrap="square">
            <a:spAutoFit/>
          </a:bodyPr>
          <a:lstStyle/>
          <a:p>
            <a:pPr algn="l">
              <a:defRPr sz="1200" b="1">
                <a:solidFill>
                  <a:srgbClr val="7EB5A6"/>
                </a:solidFill>
                <a:latin typeface="Helvetica Neue"/>
              </a:defRPr>
            </a:pPr>
            <a:r>
              <a:t>Mitigation:</a:t>
            </a:r>
          </a:p>
        </p:txBody>
      </p:sp>
      <p:sp>
        <p:nvSpPr>
          <p:cNvPr id="13" name="TextBox 12"/>
          <p:cNvSpPr txBox="1"/>
          <p:nvPr/>
        </p:nvSpPr>
        <p:spPr>
          <a:xfrm>
            <a:off x="5486400" y="3383279"/>
            <a:ext cx="4754880" cy="594360"/>
          </a:xfrm>
          <a:prstGeom prst="rect">
            <a:avLst/>
          </a:prstGeom>
          <a:noFill/>
        </p:spPr>
        <p:txBody>
          <a:bodyPr wrap="square">
            <a:spAutoFit/>
          </a:bodyPr>
          <a:lstStyle/>
          <a:p>
            <a:pPr algn="l">
              <a:defRPr sz="1300" b="0">
                <a:solidFill>
                  <a:srgbClr val="6B666A"/>
                </a:solidFill>
                <a:latin typeface="Helvetica Neue"/>
              </a:defRPr>
            </a:pPr>
            <a:r>
              <a:t>Sound is inherently repeatable; adaptive audio creates unique sessions each time</a:t>
            </a:r>
          </a:p>
        </p:txBody>
      </p:sp>
      <p:sp>
        <p:nvSpPr>
          <p:cNvPr id="14" name="Rounded Rectangle 13"/>
          <p:cNvSpPr/>
          <p:nvPr/>
        </p:nvSpPr>
        <p:spPr>
          <a:xfrm>
            <a:off x="914400" y="4206240"/>
            <a:ext cx="9601200" cy="1005840"/>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88720" y="4251959"/>
            <a:ext cx="2286000" cy="320040"/>
          </a:xfrm>
          <a:prstGeom prst="rect">
            <a:avLst/>
          </a:prstGeom>
          <a:noFill/>
        </p:spPr>
        <p:txBody>
          <a:bodyPr wrap="square">
            <a:spAutoFit/>
          </a:bodyPr>
          <a:lstStyle/>
          <a:p>
            <a:pPr algn="l">
              <a:defRPr sz="1500" b="1">
                <a:solidFill>
                  <a:srgbClr val="D48B9A"/>
                </a:solidFill>
                <a:latin typeface="Helvetica Neue"/>
              </a:defRPr>
            </a:pPr>
            <a:r>
              <a:t>Technical Complexity</a:t>
            </a:r>
          </a:p>
        </p:txBody>
      </p:sp>
      <p:sp>
        <p:nvSpPr>
          <p:cNvPr id="16" name="TextBox 15"/>
          <p:cNvSpPr txBox="1"/>
          <p:nvPr/>
        </p:nvSpPr>
        <p:spPr>
          <a:xfrm>
            <a:off x="1188720" y="4572000"/>
            <a:ext cx="4114800" cy="320040"/>
          </a:xfrm>
          <a:prstGeom prst="rect">
            <a:avLst/>
          </a:prstGeom>
          <a:noFill/>
        </p:spPr>
        <p:txBody>
          <a:bodyPr wrap="square">
            <a:spAutoFit/>
          </a:bodyPr>
          <a:lstStyle/>
          <a:p>
            <a:pPr algn="l">
              <a:defRPr sz="1300" b="0">
                <a:solidFill>
                  <a:srgbClr val="6B666A"/>
                </a:solidFill>
                <a:latin typeface="Helvetica Neue"/>
              </a:defRPr>
            </a:pPr>
            <a:r>
              <a:t>Real-time audio on mobile requires careful performance optimization</a:t>
            </a:r>
          </a:p>
        </p:txBody>
      </p:sp>
      <p:sp>
        <p:nvSpPr>
          <p:cNvPr id="17" name="TextBox 16"/>
          <p:cNvSpPr txBox="1"/>
          <p:nvPr/>
        </p:nvSpPr>
        <p:spPr>
          <a:xfrm>
            <a:off x="5486400" y="4251959"/>
            <a:ext cx="1097280" cy="320040"/>
          </a:xfrm>
          <a:prstGeom prst="rect">
            <a:avLst/>
          </a:prstGeom>
          <a:noFill/>
        </p:spPr>
        <p:txBody>
          <a:bodyPr wrap="square">
            <a:spAutoFit/>
          </a:bodyPr>
          <a:lstStyle/>
          <a:p>
            <a:pPr algn="l">
              <a:defRPr sz="1200" b="1">
                <a:solidFill>
                  <a:srgbClr val="7EB5A6"/>
                </a:solidFill>
                <a:latin typeface="Helvetica Neue"/>
              </a:defRPr>
            </a:pPr>
            <a:r>
              <a:t>Mitigation:</a:t>
            </a:r>
          </a:p>
        </p:txBody>
      </p:sp>
      <p:sp>
        <p:nvSpPr>
          <p:cNvPr id="18" name="TextBox 17"/>
          <p:cNvSpPr txBox="1"/>
          <p:nvPr/>
        </p:nvSpPr>
        <p:spPr>
          <a:xfrm>
            <a:off x="5486400" y="4572000"/>
            <a:ext cx="4754880" cy="594360"/>
          </a:xfrm>
          <a:prstGeom prst="rect">
            <a:avLst/>
          </a:prstGeom>
          <a:noFill/>
        </p:spPr>
        <p:txBody>
          <a:bodyPr wrap="square">
            <a:spAutoFit/>
          </a:bodyPr>
          <a:lstStyle/>
          <a:p>
            <a:pPr algn="l">
              <a:defRPr sz="1300" b="0">
                <a:solidFill>
                  <a:srgbClr val="6B666A"/>
                </a:solidFill>
                <a:latin typeface="Helvetica Neue"/>
              </a:defRPr>
            </a:pPr>
            <a:r>
              <a:t>AVAudioEngine is Apple's native framework; audio-thread architecture already proven in v1</a:t>
            </a:r>
          </a:p>
        </p:txBody>
      </p:sp>
      <p:sp>
        <p:nvSpPr>
          <p:cNvPr id="19" name="Rounded Rectangle 18"/>
          <p:cNvSpPr/>
          <p:nvPr/>
        </p:nvSpPr>
        <p:spPr>
          <a:xfrm>
            <a:off x="914400" y="5394960"/>
            <a:ext cx="9601200" cy="1005840"/>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88720" y="5440680"/>
            <a:ext cx="2286000" cy="320040"/>
          </a:xfrm>
          <a:prstGeom prst="rect">
            <a:avLst/>
          </a:prstGeom>
          <a:noFill/>
        </p:spPr>
        <p:txBody>
          <a:bodyPr wrap="square">
            <a:spAutoFit/>
          </a:bodyPr>
          <a:lstStyle/>
          <a:p>
            <a:pPr algn="l">
              <a:defRPr sz="1500" b="1">
                <a:solidFill>
                  <a:srgbClr val="D48B9A"/>
                </a:solidFill>
                <a:latin typeface="Helvetica Neue"/>
              </a:defRPr>
            </a:pPr>
            <a:r>
              <a:t>Monetization</a:t>
            </a:r>
          </a:p>
        </p:txBody>
      </p:sp>
      <p:sp>
        <p:nvSpPr>
          <p:cNvPr id="21" name="TextBox 20"/>
          <p:cNvSpPr txBox="1"/>
          <p:nvPr/>
        </p:nvSpPr>
        <p:spPr>
          <a:xfrm>
            <a:off x="1188720" y="5760720"/>
            <a:ext cx="4114800" cy="320040"/>
          </a:xfrm>
          <a:prstGeom prst="rect">
            <a:avLst/>
          </a:prstGeom>
          <a:noFill/>
        </p:spPr>
        <p:txBody>
          <a:bodyPr wrap="square">
            <a:spAutoFit/>
          </a:bodyPr>
          <a:lstStyle/>
          <a:p>
            <a:pPr algn="l">
              <a:defRPr sz="1300" b="0">
                <a:solidFill>
                  <a:srgbClr val="6B666A"/>
                </a:solidFill>
                <a:latin typeface="Helvetica Neue"/>
              </a:defRPr>
            </a:pPr>
            <a:r>
              <a:t>Users resistant to wellness app subscriptions</a:t>
            </a:r>
          </a:p>
        </p:txBody>
      </p:sp>
      <p:sp>
        <p:nvSpPr>
          <p:cNvPr id="22" name="TextBox 21"/>
          <p:cNvSpPr txBox="1"/>
          <p:nvPr/>
        </p:nvSpPr>
        <p:spPr>
          <a:xfrm>
            <a:off x="5486400" y="5440680"/>
            <a:ext cx="1097280" cy="320040"/>
          </a:xfrm>
          <a:prstGeom prst="rect">
            <a:avLst/>
          </a:prstGeom>
          <a:noFill/>
        </p:spPr>
        <p:txBody>
          <a:bodyPr wrap="square">
            <a:spAutoFit/>
          </a:bodyPr>
          <a:lstStyle/>
          <a:p>
            <a:pPr algn="l">
              <a:defRPr sz="1200" b="1">
                <a:solidFill>
                  <a:srgbClr val="7EB5A6"/>
                </a:solidFill>
                <a:latin typeface="Helvetica Neue"/>
              </a:defRPr>
            </a:pPr>
            <a:r>
              <a:t>Mitigation:</a:t>
            </a:r>
          </a:p>
        </p:txBody>
      </p:sp>
      <p:sp>
        <p:nvSpPr>
          <p:cNvPr id="23" name="TextBox 22"/>
          <p:cNvSpPr txBox="1"/>
          <p:nvPr/>
        </p:nvSpPr>
        <p:spPr>
          <a:xfrm>
            <a:off x="5486400" y="5760720"/>
            <a:ext cx="4754880" cy="594360"/>
          </a:xfrm>
          <a:prstGeom prst="rect">
            <a:avLst/>
          </a:prstGeom>
          <a:noFill/>
        </p:spPr>
        <p:txBody>
          <a:bodyPr wrap="square">
            <a:spAutoFit/>
          </a:bodyPr>
          <a:lstStyle/>
          <a:p>
            <a:pPr algn="l">
              <a:defRPr sz="1300" b="0">
                <a:solidFill>
                  <a:srgbClr val="6B666A"/>
                </a:solidFill>
                <a:latin typeface="Helvetica Neue"/>
              </a:defRPr>
            </a:pPr>
            <a:r>
              <a:t>Generous free tier builds habit; premium unlocks depth, not access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914400" y="731520"/>
            <a:ext cx="1828800" cy="38100"/>
          </a:xfrm>
          <a:prstGeom prst="rect">
            <a:avLst/>
          </a:prstGeom>
          <a:solidFill>
            <a:srgbClr val="7EB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058400" cy="640080"/>
          </a:xfrm>
          <a:prstGeom prst="rect">
            <a:avLst/>
          </a:prstGeom>
          <a:noFill/>
        </p:spPr>
        <p:txBody>
          <a:bodyPr wrap="square">
            <a:spAutoFit/>
          </a:bodyPr>
          <a:lstStyle/>
          <a:p>
            <a:pPr algn="l">
              <a:defRPr sz="3600" b="1">
                <a:solidFill>
                  <a:srgbClr val="3A363B"/>
                </a:solidFill>
                <a:latin typeface="Helvetica Neue"/>
              </a:defRPr>
            </a:pPr>
            <a:r>
              <a:t>Key Performance Indicators</a:t>
            </a:r>
          </a:p>
        </p:txBody>
      </p:sp>
      <p:sp>
        <p:nvSpPr>
          <p:cNvPr id="4" name="Rounded Rectangle 3"/>
          <p:cNvSpPr/>
          <p:nvPr/>
        </p:nvSpPr>
        <p:spPr>
          <a:xfrm>
            <a:off x="914400" y="1920240"/>
            <a:ext cx="9601200" cy="640080"/>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2057400"/>
            <a:ext cx="2743200" cy="365760"/>
          </a:xfrm>
          <a:prstGeom prst="rect">
            <a:avLst/>
          </a:prstGeom>
          <a:noFill/>
        </p:spPr>
        <p:txBody>
          <a:bodyPr wrap="square">
            <a:spAutoFit/>
          </a:bodyPr>
          <a:lstStyle/>
          <a:p>
            <a:pPr algn="l">
              <a:defRPr sz="1500" b="1">
                <a:solidFill>
                  <a:srgbClr val="3A363B"/>
                </a:solidFill>
                <a:latin typeface="Helvetica Neue"/>
              </a:defRPr>
            </a:pPr>
            <a:r>
              <a:t>DAU / MAU Ratio</a:t>
            </a:r>
          </a:p>
        </p:txBody>
      </p:sp>
      <p:sp>
        <p:nvSpPr>
          <p:cNvPr id="6" name="TextBox 5"/>
          <p:cNvSpPr txBox="1"/>
          <p:nvPr/>
        </p:nvSpPr>
        <p:spPr>
          <a:xfrm>
            <a:off x="4114800" y="2057400"/>
            <a:ext cx="1371600" cy="365760"/>
          </a:xfrm>
          <a:prstGeom prst="rect">
            <a:avLst/>
          </a:prstGeom>
          <a:noFill/>
        </p:spPr>
        <p:txBody>
          <a:bodyPr wrap="square">
            <a:spAutoFit/>
          </a:bodyPr>
          <a:lstStyle/>
          <a:p>
            <a:pPr algn="ctr">
              <a:defRPr sz="1600" b="1">
                <a:solidFill>
                  <a:srgbClr val="89AFC8"/>
                </a:solidFill>
                <a:latin typeface="Helvetica Neue"/>
              </a:defRPr>
            </a:pPr>
            <a:r>
              <a:t>&gt; 25%</a:t>
            </a:r>
          </a:p>
        </p:txBody>
      </p:sp>
      <p:sp>
        <p:nvSpPr>
          <p:cNvPr id="7" name="TextBox 6"/>
          <p:cNvSpPr txBox="1"/>
          <p:nvPr/>
        </p:nvSpPr>
        <p:spPr>
          <a:xfrm>
            <a:off x="5669280" y="2057400"/>
            <a:ext cx="4572000" cy="365760"/>
          </a:xfrm>
          <a:prstGeom prst="rect">
            <a:avLst/>
          </a:prstGeom>
          <a:noFill/>
        </p:spPr>
        <p:txBody>
          <a:bodyPr wrap="square">
            <a:spAutoFit/>
          </a:bodyPr>
          <a:lstStyle/>
          <a:p>
            <a:pPr algn="l">
              <a:defRPr sz="1400" b="0">
                <a:solidFill>
                  <a:srgbClr val="6B666A"/>
                </a:solidFill>
                <a:latin typeface="Helvetica Neue"/>
              </a:defRPr>
            </a:pPr>
            <a:r>
              <a:t>Measures daily engagement stickiness</a:t>
            </a:r>
          </a:p>
        </p:txBody>
      </p:sp>
      <p:sp>
        <p:nvSpPr>
          <p:cNvPr id="8" name="Rounded Rectangle 7"/>
          <p:cNvSpPr/>
          <p:nvPr/>
        </p:nvSpPr>
        <p:spPr>
          <a:xfrm>
            <a:off x="914400" y="2697480"/>
            <a:ext cx="9601200" cy="640080"/>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2834640"/>
            <a:ext cx="2743200" cy="365760"/>
          </a:xfrm>
          <a:prstGeom prst="rect">
            <a:avLst/>
          </a:prstGeom>
          <a:noFill/>
        </p:spPr>
        <p:txBody>
          <a:bodyPr wrap="square">
            <a:spAutoFit/>
          </a:bodyPr>
          <a:lstStyle/>
          <a:p>
            <a:pPr algn="l">
              <a:defRPr sz="1500" b="1">
                <a:solidFill>
                  <a:srgbClr val="3A363B"/>
                </a:solidFill>
                <a:latin typeface="Helvetica Neue"/>
              </a:defRPr>
            </a:pPr>
            <a:r>
              <a:t>Session Duration</a:t>
            </a:r>
          </a:p>
        </p:txBody>
      </p:sp>
      <p:sp>
        <p:nvSpPr>
          <p:cNvPr id="10" name="TextBox 9"/>
          <p:cNvSpPr txBox="1"/>
          <p:nvPr/>
        </p:nvSpPr>
        <p:spPr>
          <a:xfrm>
            <a:off x="4114800" y="2834640"/>
            <a:ext cx="1371600" cy="365760"/>
          </a:xfrm>
          <a:prstGeom prst="rect">
            <a:avLst/>
          </a:prstGeom>
          <a:noFill/>
        </p:spPr>
        <p:txBody>
          <a:bodyPr wrap="square">
            <a:spAutoFit/>
          </a:bodyPr>
          <a:lstStyle/>
          <a:p>
            <a:pPr algn="ctr">
              <a:defRPr sz="1600" b="1">
                <a:solidFill>
                  <a:srgbClr val="7EB5A6"/>
                </a:solidFill>
                <a:latin typeface="Helvetica Neue"/>
              </a:defRPr>
            </a:pPr>
            <a:r>
              <a:t>&gt; 4 min</a:t>
            </a:r>
          </a:p>
        </p:txBody>
      </p:sp>
      <p:sp>
        <p:nvSpPr>
          <p:cNvPr id="11" name="TextBox 10"/>
          <p:cNvSpPr txBox="1"/>
          <p:nvPr/>
        </p:nvSpPr>
        <p:spPr>
          <a:xfrm>
            <a:off x="5669280" y="2834640"/>
            <a:ext cx="4572000" cy="365760"/>
          </a:xfrm>
          <a:prstGeom prst="rect">
            <a:avLst/>
          </a:prstGeom>
          <a:noFill/>
        </p:spPr>
        <p:txBody>
          <a:bodyPr wrap="square">
            <a:spAutoFit/>
          </a:bodyPr>
          <a:lstStyle/>
          <a:p>
            <a:pPr algn="l">
              <a:defRPr sz="1400" b="0">
                <a:solidFill>
                  <a:srgbClr val="6B666A"/>
                </a:solidFill>
                <a:latin typeface="Helvetica Neue"/>
              </a:defRPr>
            </a:pPr>
            <a:r>
              <a:t>Breathing session = 4–8 min; indicates full use</a:t>
            </a:r>
          </a:p>
        </p:txBody>
      </p:sp>
      <p:sp>
        <p:nvSpPr>
          <p:cNvPr id="12" name="Rounded Rectangle 11"/>
          <p:cNvSpPr/>
          <p:nvPr/>
        </p:nvSpPr>
        <p:spPr>
          <a:xfrm>
            <a:off x="914400" y="3474720"/>
            <a:ext cx="9601200" cy="640080"/>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88720" y="3611879"/>
            <a:ext cx="2743200" cy="365760"/>
          </a:xfrm>
          <a:prstGeom prst="rect">
            <a:avLst/>
          </a:prstGeom>
          <a:noFill/>
        </p:spPr>
        <p:txBody>
          <a:bodyPr wrap="square">
            <a:spAutoFit/>
          </a:bodyPr>
          <a:lstStyle/>
          <a:p>
            <a:pPr algn="l">
              <a:defRPr sz="1500" b="1">
                <a:solidFill>
                  <a:srgbClr val="3A363B"/>
                </a:solidFill>
                <a:latin typeface="Helvetica Neue"/>
              </a:defRPr>
            </a:pPr>
            <a:r>
              <a:t>Free → Premium</a:t>
            </a:r>
          </a:p>
        </p:txBody>
      </p:sp>
      <p:sp>
        <p:nvSpPr>
          <p:cNvPr id="14" name="TextBox 13"/>
          <p:cNvSpPr txBox="1"/>
          <p:nvPr/>
        </p:nvSpPr>
        <p:spPr>
          <a:xfrm>
            <a:off x="4114800" y="3611879"/>
            <a:ext cx="1371600" cy="365760"/>
          </a:xfrm>
          <a:prstGeom prst="rect">
            <a:avLst/>
          </a:prstGeom>
          <a:noFill/>
        </p:spPr>
        <p:txBody>
          <a:bodyPr wrap="square">
            <a:spAutoFit/>
          </a:bodyPr>
          <a:lstStyle/>
          <a:p>
            <a:pPr algn="ctr">
              <a:defRPr sz="1600" b="1">
                <a:solidFill>
                  <a:srgbClr val="9B8BC4"/>
                </a:solidFill>
                <a:latin typeface="Helvetica Neue"/>
              </a:defRPr>
            </a:pPr>
            <a:r>
              <a:t>&gt; 8%</a:t>
            </a:r>
          </a:p>
        </p:txBody>
      </p:sp>
      <p:sp>
        <p:nvSpPr>
          <p:cNvPr id="15" name="TextBox 14"/>
          <p:cNvSpPr txBox="1"/>
          <p:nvPr/>
        </p:nvSpPr>
        <p:spPr>
          <a:xfrm>
            <a:off x="5669280" y="3611879"/>
            <a:ext cx="4572000" cy="365760"/>
          </a:xfrm>
          <a:prstGeom prst="rect">
            <a:avLst/>
          </a:prstGeom>
          <a:noFill/>
        </p:spPr>
        <p:txBody>
          <a:bodyPr wrap="square">
            <a:spAutoFit/>
          </a:bodyPr>
          <a:lstStyle/>
          <a:p>
            <a:pPr algn="l">
              <a:defRPr sz="1400" b="0">
                <a:solidFill>
                  <a:srgbClr val="6B666A"/>
                </a:solidFill>
                <a:latin typeface="Helvetica Neue"/>
              </a:defRPr>
            </a:pPr>
            <a:r>
              <a:t>Conversion rate from free to paid tier</a:t>
            </a:r>
          </a:p>
        </p:txBody>
      </p:sp>
      <p:sp>
        <p:nvSpPr>
          <p:cNvPr id="16" name="Rounded Rectangle 15"/>
          <p:cNvSpPr/>
          <p:nvPr/>
        </p:nvSpPr>
        <p:spPr>
          <a:xfrm>
            <a:off x="914400" y="4251960"/>
            <a:ext cx="9601200" cy="640080"/>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88720" y="4389120"/>
            <a:ext cx="2743200" cy="365760"/>
          </a:xfrm>
          <a:prstGeom prst="rect">
            <a:avLst/>
          </a:prstGeom>
          <a:noFill/>
        </p:spPr>
        <p:txBody>
          <a:bodyPr wrap="square">
            <a:spAutoFit/>
          </a:bodyPr>
          <a:lstStyle/>
          <a:p>
            <a:pPr algn="l">
              <a:defRPr sz="1500" b="1">
                <a:solidFill>
                  <a:srgbClr val="3A363B"/>
                </a:solidFill>
                <a:latin typeface="Helvetica Neue"/>
              </a:defRPr>
            </a:pPr>
            <a:r>
              <a:t>30-Day Retention</a:t>
            </a:r>
          </a:p>
        </p:txBody>
      </p:sp>
      <p:sp>
        <p:nvSpPr>
          <p:cNvPr id="18" name="TextBox 17"/>
          <p:cNvSpPr txBox="1"/>
          <p:nvPr/>
        </p:nvSpPr>
        <p:spPr>
          <a:xfrm>
            <a:off x="4114800" y="4389120"/>
            <a:ext cx="1371600" cy="365760"/>
          </a:xfrm>
          <a:prstGeom prst="rect">
            <a:avLst/>
          </a:prstGeom>
          <a:noFill/>
        </p:spPr>
        <p:txBody>
          <a:bodyPr wrap="square">
            <a:spAutoFit/>
          </a:bodyPr>
          <a:lstStyle/>
          <a:p>
            <a:pPr algn="ctr">
              <a:defRPr sz="1600" b="1">
                <a:solidFill>
                  <a:srgbClr val="D4B483"/>
                </a:solidFill>
                <a:latin typeface="Helvetica Neue"/>
              </a:defRPr>
            </a:pPr>
            <a:r>
              <a:t>&gt; 15%</a:t>
            </a:r>
          </a:p>
        </p:txBody>
      </p:sp>
      <p:sp>
        <p:nvSpPr>
          <p:cNvPr id="19" name="TextBox 18"/>
          <p:cNvSpPr txBox="1"/>
          <p:nvPr/>
        </p:nvSpPr>
        <p:spPr>
          <a:xfrm>
            <a:off x="5669280" y="4389120"/>
            <a:ext cx="4572000" cy="365760"/>
          </a:xfrm>
          <a:prstGeom prst="rect">
            <a:avLst/>
          </a:prstGeom>
          <a:noFill/>
        </p:spPr>
        <p:txBody>
          <a:bodyPr wrap="square">
            <a:spAutoFit/>
          </a:bodyPr>
          <a:lstStyle/>
          <a:p>
            <a:pPr algn="l">
              <a:defRPr sz="1400" b="0">
                <a:solidFill>
                  <a:srgbClr val="6B666A"/>
                </a:solidFill>
                <a:latin typeface="Helvetica Neue"/>
              </a:defRPr>
            </a:pPr>
            <a:r>
              <a:t>Industry avg is 4%; sound-based habit is stickier</a:t>
            </a:r>
          </a:p>
        </p:txBody>
      </p:sp>
      <p:sp>
        <p:nvSpPr>
          <p:cNvPr id="20" name="Rounded Rectangle 19"/>
          <p:cNvSpPr/>
          <p:nvPr/>
        </p:nvSpPr>
        <p:spPr>
          <a:xfrm>
            <a:off x="914400" y="5029200"/>
            <a:ext cx="9601200" cy="640080"/>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88720" y="5166360"/>
            <a:ext cx="2743200" cy="365760"/>
          </a:xfrm>
          <a:prstGeom prst="rect">
            <a:avLst/>
          </a:prstGeom>
          <a:noFill/>
        </p:spPr>
        <p:txBody>
          <a:bodyPr wrap="square">
            <a:spAutoFit/>
          </a:bodyPr>
          <a:lstStyle/>
          <a:p>
            <a:pPr algn="l">
              <a:defRPr sz="1500" b="1">
                <a:solidFill>
                  <a:srgbClr val="3A363B"/>
                </a:solidFill>
                <a:latin typeface="Helvetica Neue"/>
              </a:defRPr>
            </a:pPr>
            <a:r>
              <a:t>NPS Score</a:t>
            </a:r>
          </a:p>
        </p:txBody>
      </p:sp>
      <p:sp>
        <p:nvSpPr>
          <p:cNvPr id="22" name="TextBox 21"/>
          <p:cNvSpPr txBox="1"/>
          <p:nvPr/>
        </p:nvSpPr>
        <p:spPr>
          <a:xfrm>
            <a:off x="4114800" y="5166360"/>
            <a:ext cx="1371600" cy="365760"/>
          </a:xfrm>
          <a:prstGeom prst="rect">
            <a:avLst/>
          </a:prstGeom>
          <a:noFill/>
        </p:spPr>
        <p:txBody>
          <a:bodyPr wrap="square">
            <a:spAutoFit/>
          </a:bodyPr>
          <a:lstStyle/>
          <a:p>
            <a:pPr algn="ctr">
              <a:defRPr sz="1600" b="1">
                <a:solidFill>
                  <a:srgbClr val="7EB58E"/>
                </a:solidFill>
                <a:latin typeface="Helvetica Neue"/>
              </a:defRPr>
            </a:pPr>
            <a:r>
              <a:t>&gt; 50</a:t>
            </a:r>
          </a:p>
        </p:txBody>
      </p:sp>
      <p:sp>
        <p:nvSpPr>
          <p:cNvPr id="23" name="TextBox 22"/>
          <p:cNvSpPr txBox="1"/>
          <p:nvPr/>
        </p:nvSpPr>
        <p:spPr>
          <a:xfrm>
            <a:off x="5669280" y="5166360"/>
            <a:ext cx="4572000" cy="365760"/>
          </a:xfrm>
          <a:prstGeom prst="rect">
            <a:avLst/>
          </a:prstGeom>
          <a:noFill/>
        </p:spPr>
        <p:txBody>
          <a:bodyPr wrap="square">
            <a:spAutoFit/>
          </a:bodyPr>
          <a:lstStyle/>
          <a:p>
            <a:pPr algn="l">
              <a:defRPr sz="1400" b="0">
                <a:solidFill>
                  <a:srgbClr val="6B666A"/>
                </a:solidFill>
                <a:latin typeface="Helvetica Neue"/>
              </a:defRPr>
            </a:pPr>
            <a:r>
              <a:t>Net Promoter Score from in-app surveys</a:t>
            </a:r>
          </a:p>
        </p:txBody>
      </p:sp>
      <p:sp>
        <p:nvSpPr>
          <p:cNvPr id="24" name="Rounded Rectangle 23"/>
          <p:cNvSpPr/>
          <p:nvPr/>
        </p:nvSpPr>
        <p:spPr>
          <a:xfrm>
            <a:off x="914400" y="5806440"/>
            <a:ext cx="9601200" cy="640080"/>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88720" y="5943600"/>
            <a:ext cx="2743200" cy="365760"/>
          </a:xfrm>
          <a:prstGeom prst="rect">
            <a:avLst/>
          </a:prstGeom>
          <a:noFill/>
        </p:spPr>
        <p:txBody>
          <a:bodyPr wrap="square">
            <a:spAutoFit/>
          </a:bodyPr>
          <a:lstStyle/>
          <a:p>
            <a:pPr algn="l">
              <a:defRPr sz="1500" b="1">
                <a:solidFill>
                  <a:srgbClr val="3A363B"/>
                </a:solidFill>
                <a:latin typeface="Helvetica Neue"/>
              </a:defRPr>
            </a:pPr>
            <a:r>
              <a:t>Audio Sessions / User / Week</a:t>
            </a:r>
          </a:p>
        </p:txBody>
      </p:sp>
      <p:sp>
        <p:nvSpPr>
          <p:cNvPr id="26" name="TextBox 25"/>
          <p:cNvSpPr txBox="1"/>
          <p:nvPr/>
        </p:nvSpPr>
        <p:spPr>
          <a:xfrm>
            <a:off x="4114800" y="5943600"/>
            <a:ext cx="1371600" cy="365760"/>
          </a:xfrm>
          <a:prstGeom prst="rect">
            <a:avLst/>
          </a:prstGeom>
          <a:noFill/>
        </p:spPr>
        <p:txBody>
          <a:bodyPr wrap="square">
            <a:spAutoFit/>
          </a:bodyPr>
          <a:lstStyle/>
          <a:p>
            <a:pPr algn="ctr">
              <a:defRPr sz="1600" b="1">
                <a:solidFill>
                  <a:srgbClr val="D48B9A"/>
                </a:solidFill>
                <a:latin typeface="Helvetica Neue"/>
              </a:defRPr>
            </a:pPr>
            <a:r>
              <a:t>&gt; 3</a:t>
            </a:r>
          </a:p>
        </p:txBody>
      </p:sp>
      <p:sp>
        <p:nvSpPr>
          <p:cNvPr id="27" name="TextBox 26"/>
          <p:cNvSpPr txBox="1"/>
          <p:nvPr/>
        </p:nvSpPr>
        <p:spPr>
          <a:xfrm>
            <a:off x="5669280" y="5943600"/>
            <a:ext cx="4572000" cy="365760"/>
          </a:xfrm>
          <a:prstGeom prst="rect">
            <a:avLst/>
          </a:prstGeom>
          <a:noFill/>
        </p:spPr>
        <p:txBody>
          <a:bodyPr wrap="square">
            <a:spAutoFit/>
          </a:bodyPr>
          <a:lstStyle/>
          <a:p>
            <a:pPr algn="l">
              <a:defRPr sz="1400" b="0">
                <a:solidFill>
                  <a:srgbClr val="6B666A"/>
                </a:solidFill>
                <a:latin typeface="Helvetica Neue"/>
              </a:defRPr>
            </a:pPr>
            <a:r>
              <a:t>Core engagement metric — are users coming back to sound?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914400" y="731520"/>
            <a:ext cx="1828800" cy="38100"/>
          </a:xfrm>
          <a:prstGeom prst="rect">
            <a:avLst/>
          </a:prstGeom>
          <a:solidFill>
            <a:srgbClr val="9B8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058400" cy="640080"/>
          </a:xfrm>
          <a:prstGeom prst="rect">
            <a:avLst/>
          </a:prstGeom>
          <a:noFill/>
        </p:spPr>
        <p:txBody>
          <a:bodyPr wrap="square">
            <a:spAutoFit/>
          </a:bodyPr>
          <a:lstStyle/>
          <a:p>
            <a:pPr algn="l">
              <a:defRPr sz="3600" b="1">
                <a:solidFill>
                  <a:srgbClr val="3A363B"/>
                </a:solidFill>
                <a:latin typeface="Helvetica Neue"/>
              </a:defRPr>
            </a:pPr>
            <a:r>
              <a:t>Team &amp; Resources</a:t>
            </a:r>
          </a:p>
        </p:txBody>
      </p:sp>
      <p:sp>
        <p:nvSpPr>
          <p:cNvPr id="4" name="Rounded Rectangle 3"/>
          <p:cNvSpPr/>
          <p:nvPr/>
        </p:nvSpPr>
        <p:spPr>
          <a:xfrm>
            <a:off x="914400" y="2011680"/>
            <a:ext cx="9601200" cy="685800"/>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2148840"/>
            <a:ext cx="2286000" cy="365760"/>
          </a:xfrm>
          <a:prstGeom prst="rect">
            <a:avLst/>
          </a:prstGeom>
          <a:noFill/>
        </p:spPr>
        <p:txBody>
          <a:bodyPr wrap="square">
            <a:spAutoFit/>
          </a:bodyPr>
          <a:lstStyle/>
          <a:p>
            <a:pPr algn="l">
              <a:defRPr sz="1500" b="1">
                <a:solidFill>
                  <a:srgbClr val="3A363B"/>
                </a:solidFill>
                <a:latin typeface="Helvetica Neue"/>
              </a:defRPr>
            </a:pPr>
            <a:r>
              <a:t>iOS Developer</a:t>
            </a:r>
          </a:p>
        </p:txBody>
      </p:sp>
      <p:sp>
        <p:nvSpPr>
          <p:cNvPr id="6" name="TextBox 5"/>
          <p:cNvSpPr txBox="1"/>
          <p:nvPr/>
        </p:nvSpPr>
        <p:spPr>
          <a:xfrm>
            <a:off x="3657600" y="2148840"/>
            <a:ext cx="4572000" cy="365760"/>
          </a:xfrm>
          <a:prstGeom prst="rect">
            <a:avLst/>
          </a:prstGeom>
          <a:noFill/>
        </p:spPr>
        <p:txBody>
          <a:bodyPr wrap="square">
            <a:spAutoFit/>
          </a:bodyPr>
          <a:lstStyle/>
          <a:p>
            <a:pPr algn="l">
              <a:defRPr sz="1400" b="0">
                <a:solidFill>
                  <a:srgbClr val="6B666A"/>
                </a:solidFill>
                <a:latin typeface="Helvetica Neue"/>
              </a:defRPr>
            </a:pPr>
            <a:r>
              <a:t>SwiftUI + AVAudioEngine expertise</a:t>
            </a:r>
          </a:p>
        </p:txBody>
      </p:sp>
      <p:sp>
        <p:nvSpPr>
          <p:cNvPr id="7" name="TextBox 6"/>
          <p:cNvSpPr txBox="1"/>
          <p:nvPr/>
        </p:nvSpPr>
        <p:spPr>
          <a:xfrm>
            <a:off x="8686800" y="2148840"/>
            <a:ext cx="1828800" cy="365760"/>
          </a:xfrm>
          <a:prstGeom prst="rect">
            <a:avLst/>
          </a:prstGeom>
          <a:noFill/>
        </p:spPr>
        <p:txBody>
          <a:bodyPr wrap="square">
            <a:spAutoFit/>
          </a:bodyPr>
          <a:lstStyle/>
          <a:p>
            <a:pPr algn="ctr">
              <a:defRPr sz="1400" b="1">
                <a:solidFill>
                  <a:srgbClr val="7EB58E"/>
                </a:solidFill>
                <a:latin typeface="Helvetica Neue"/>
              </a:defRPr>
            </a:pPr>
            <a:r>
              <a:t>In place</a:t>
            </a:r>
          </a:p>
        </p:txBody>
      </p:sp>
      <p:sp>
        <p:nvSpPr>
          <p:cNvPr id="8" name="Rounded Rectangle 7"/>
          <p:cNvSpPr/>
          <p:nvPr/>
        </p:nvSpPr>
        <p:spPr>
          <a:xfrm>
            <a:off x="914400" y="2834640"/>
            <a:ext cx="9601200" cy="685800"/>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2971800"/>
            <a:ext cx="2286000" cy="365760"/>
          </a:xfrm>
          <a:prstGeom prst="rect">
            <a:avLst/>
          </a:prstGeom>
          <a:noFill/>
        </p:spPr>
        <p:txBody>
          <a:bodyPr wrap="square">
            <a:spAutoFit/>
          </a:bodyPr>
          <a:lstStyle/>
          <a:p>
            <a:pPr algn="l">
              <a:defRPr sz="1500" b="1">
                <a:solidFill>
                  <a:srgbClr val="3A363B"/>
                </a:solidFill>
                <a:latin typeface="Helvetica Neue"/>
              </a:defRPr>
            </a:pPr>
            <a:r>
              <a:t>UX/UI Designer</a:t>
            </a:r>
          </a:p>
        </p:txBody>
      </p:sp>
      <p:sp>
        <p:nvSpPr>
          <p:cNvPr id="10" name="TextBox 9"/>
          <p:cNvSpPr txBox="1"/>
          <p:nvPr/>
        </p:nvSpPr>
        <p:spPr>
          <a:xfrm>
            <a:off x="3657600" y="2971800"/>
            <a:ext cx="4572000" cy="365760"/>
          </a:xfrm>
          <a:prstGeom prst="rect">
            <a:avLst/>
          </a:prstGeom>
          <a:noFill/>
        </p:spPr>
        <p:txBody>
          <a:bodyPr wrap="square">
            <a:spAutoFit/>
          </a:bodyPr>
          <a:lstStyle/>
          <a:p>
            <a:pPr algn="l">
              <a:defRPr sz="1400" b="0">
                <a:solidFill>
                  <a:srgbClr val="6B666A"/>
                </a:solidFill>
                <a:latin typeface="Helvetica Neue"/>
              </a:defRPr>
            </a:pPr>
            <a:r>
              <a:t>Accessibility, dark-mode-first design system</a:t>
            </a:r>
          </a:p>
        </p:txBody>
      </p:sp>
      <p:sp>
        <p:nvSpPr>
          <p:cNvPr id="11" name="TextBox 10"/>
          <p:cNvSpPr txBox="1"/>
          <p:nvPr/>
        </p:nvSpPr>
        <p:spPr>
          <a:xfrm>
            <a:off x="8686800" y="2971800"/>
            <a:ext cx="1828800" cy="365760"/>
          </a:xfrm>
          <a:prstGeom prst="rect">
            <a:avLst/>
          </a:prstGeom>
          <a:noFill/>
        </p:spPr>
        <p:txBody>
          <a:bodyPr wrap="square">
            <a:spAutoFit/>
          </a:bodyPr>
          <a:lstStyle/>
          <a:p>
            <a:pPr algn="ctr">
              <a:defRPr sz="1400" b="1">
                <a:solidFill>
                  <a:srgbClr val="D48B9A"/>
                </a:solidFill>
                <a:latin typeface="Helvetica Neue"/>
              </a:defRPr>
            </a:pPr>
            <a:r>
              <a:t>Needed</a:t>
            </a:r>
          </a:p>
        </p:txBody>
      </p:sp>
      <p:sp>
        <p:nvSpPr>
          <p:cNvPr id="12" name="Rounded Rectangle 11"/>
          <p:cNvSpPr/>
          <p:nvPr/>
        </p:nvSpPr>
        <p:spPr>
          <a:xfrm>
            <a:off x="914400" y="3657600"/>
            <a:ext cx="9601200" cy="685800"/>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88720" y="3794760"/>
            <a:ext cx="2286000" cy="365760"/>
          </a:xfrm>
          <a:prstGeom prst="rect">
            <a:avLst/>
          </a:prstGeom>
          <a:noFill/>
        </p:spPr>
        <p:txBody>
          <a:bodyPr wrap="square">
            <a:spAutoFit/>
          </a:bodyPr>
          <a:lstStyle/>
          <a:p>
            <a:pPr algn="l">
              <a:defRPr sz="1500" b="1">
                <a:solidFill>
                  <a:srgbClr val="3A363B"/>
                </a:solidFill>
                <a:latin typeface="Helvetica Neue"/>
              </a:defRPr>
            </a:pPr>
            <a:r>
              <a:t>Sound Designer</a:t>
            </a:r>
          </a:p>
        </p:txBody>
      </p:sp>
      <p:sp>
        <p:nvSpPr>
          <p:cNvPr id="14" name="TextBox 13"/>
          <p:cNvSpPr txBox="1"/>
          <p:nvPr/>
        </p:nvSpPr>
        <p:spPr>
          <a:xfrm>
            <a:off x="3657600" y="3794760"/>
            <a:ext cx="4572000" cy="365760"/>
          </a:xfrm>
          <a:prstGeom prst="rect">
            <a:avLst/>
          </a:prstGeom>
          <a:noFill/>
        </p:spPr>
        <p:txBody>
          <a:bodyPr wrap="square">
            <a:spAutoFit/>
          </a:bodyPr>
          <a:lstStyle/>
          <a:p>
            <a:pPr algn="l">
              <a:defRPr sz="1400" b="0">
                <a:solidFill>
                  <a:srgbClr val="6B666A"/>
                </a:solidFill>
                <a:latin typeface="Helvetica Neue"/>
              </a:defRPr>
            </a:pPr>
            <a:r>
              <a:t>Ambient soundscape creation, frequency tuning</a:t>
            </a:r>
          </a:p>
        </p:txBody>
      </p:sp>
      <p:sp>
        <p:nvSpPr>
          <p:cNvPr id="15" name="TextBox 14"/>
          <p:cNvSpPr txBox="1"/>
          <p:nvPr/>
        </p:nvSpPr>
        <p:spPr>
          <a:xfrm>
            <a:off x="8686800" y="3794760"/>
            <a:ext cx="1828800" cy="365760"/>
          </a:xfrm>
          <a:prstGeom prst="rect">
            <a:avLst/>
          </a:prstGeom>
          <a:noFill/>
        </p:spPr>
        <p:txBody>
          <a:bodyPr wrap="square">
            <a:spAutoFit/>
          </a:bodyPr>
          <a:lstStyle/>
          <a:p>
            <a:pPr algn="ctr">
              <a:defRPr sz="1400" b="1">
                <a:solidFill>
                  <a:srgbClr val="D48B9A"/>
                </a:solidFill>
                <a:latin typeface="Helvetica Neue"/>
              </a:defRPr>
            </a:pPr>
            <a:r>
              <a:t>Needed</a:t>
            </a:r>
          </a:p>
        </p:txBody>
      </p:sp>
      <p:sp>
        <p:nvSpPr>
          <p:cNvPr id="16" name="Rounded Rectangle 15"/>
          <p:cNvSpPr/>
          <p:nvPr/>
        </p:nvSpPr>
        <p:spPr>
          <a:xfrm>
            <a:off x="914400" y="4480560"/>
            <a:ext cx="9601200" cy="685800"/>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88720" y="4617720"/>
            <a:ext cx="2286000" cy="365760"/>
          </a:xfrm>
          <a:prstGeom prst="rect">
            <a:avLst/>
          </a:prstGeom>
          <a:noFill/>
        </p:spPr>
        <p:txBody>
          <a:bodyPr wrap="square">
            <a:spAutoFit/>
          </a:bodyPr>
          <a:lstStyle/>
          <a:p>
            <a:pPr algn="l">
              <a:defRPr sz="1500" b="1">
                <a:solidFill>
                  <a:srgbClr val="3A363B"/>
                </a:solidFill>
                <a:latin typeface="Helvetica Neue"/>
              </a:defRPr>
            </a:pPr>
            <a:r>
              <a:t>Marketing Lead</a:t>
            </a:r>
          </a:p>
        </p:txBody>
      </p:sp>
      <p:sp>
        <p:nvSpPr>
          <p:cNvPr id="18" name="TextBox 17"/>
          <p:cNvSpPr txBox="1"/>
          <p:nvPr/>
        </p:nvSpPr>
        <p:spPr>
          <a:xfrm>
            <a:off x="3657600" y="4617720"/>
            <a:ext cx="4572000" cy="365760"/>
          </a:xfrm>
          <a:prstGeom prst="rect">
            <a:avLst/>
          </a:prstGeom>
          <a:noFill/>
        </p:spPr>
        <p:txBody>
          <a:bodyPr wrap="square">
            <a:spAutoFit/>
          </a:bodyPr>
          <a:lstStyle/>
          <a:p>
            <a:pPr algn="l">
              <a:defRPr sz="1400" b="0">
                <a:solidFill>
                  <a:srgbClr val="6B666A"/>
                </a:solidFill>
                <a:latin typeface="Helvetica Neue"/>
              </a:defRPr>
            </a:pPr>
            <a:r>
              <a:t>App Store, social media, partnerships</a:t>
            </a:r>
          </a:p>
        </p:txBody>
      </p:sp>
      <p:sp>
        <p:nvSpPr>
          <p:cNvPr id="19" name="TextBox 18"/>
          <p:cNvSpPr txBox="1"/>
          <p:nvPr/>
        </p:nvSpPr>
        <p:spPr>
          <a:xfrm>
            <a:off x="8686800" y="4617720"/>
            <a:ext cx="1828800" cy="365760"/>
          </a:xfrm>
          <a:prstGeom prst="rect">
            <a:avLst/>
          </a:prstGeom>
          <a:noFill/>
        </p:spPr>
        <p:txBody>
          <a:bodyPr wrap="square">
            <a:spAutoFit/>
          </a:bodyPr>
          <a:lstStyle/>
          <a:p>
            <a:pPr algn="ctr">
              <a:defRPr sz="1400" b="1">
                <a:solidFill>
                  <a:srgbClr val="D48B9A"/>
                </a:solidFill>
                <a:latin typeface="Helvetica Neue"/>
              </a:defRPr>
            </a:pPr>
            <a:r>
              <a:t>Needed</a:t>
            </a:r>
          </a:p>
        </p:txBody>
      </p:sp>
      <p:sp>
        <p:nvSpPr>
          <p:cNvPr id="20" name="Rounded Rectangle 19"/>
          <p:cNvSpPr/>
          <p:nvPr/>
        </p:nvSpPr>
        <p:spPr>
          <a:xfrm>
            <a:off x="914400" y="5303520"/>
            <a:ext cx="9601200" cy="685800"/>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88720" y="5440680"/>
            <a:ext cx="2286000" cy="365760"/>
          </a:xfrm>
          <a:prstGeom prst="rect">
            <a:avLst/>
          </a:prstGeom>
          <a:noFill/>
        </p:spPr>
        <p:txBody>
          <a:bodyPr wrap="square">
            <a:spAutoFit/>
          </a:bodyPr>
          <a:lstStyle/>
          <a:p>
            <a:pPr algn="l">
              <a:defRPr sz="1500" b="1">
                <a:solidFill>
                  <a:srgbClr val="3A363B"/>
                </a:solidFill>
                <a:latin typeface="Helvetica Neue"/>
              </a:defRPr>
            </a:pPr>
            <a:r>
              <a:t>Backend Developer</a:t>
            </a:r>
          </a:p>
        </p:txBody>
      </p:sp>
      <p:sp>
        <p:nvSpPr>
          <p:cNvPr id="22" name="TextBox 21"/>
          <p:cNvSpPr txBox="1"/>
          <p:nvPr/>
        </p:nvSpPr>
        <p:spPr>
          <a:xfrm>
            <a:off x="3657600" y="5440680"/>
            <a:ext cx="4572000" cy="365760"/>
          </a:xfrm>
          <a:prstGeom prst="rect">
            <a:avLst/>
          </a:prstGeom>
          <a:noFill/>
        </p:spPr>
        <p:txBody>
          <a:bodyPr wrap="square">
            <a:spAutoFit/>
          </a:bodyPr>
          <a:lstStyle/>
          <a:p>
            <a:pPr algn="l">
              <a:defRPr sz="1400" b="0">
                <a:solidFill>
                  <a:srgbClr val="6B666A"/>
                </a:solidFill>
                <a:latin typeface="Helvetica Neue"/>
              </a:defRPr>
            </a:pPr>
            <a:r>
              <a:t>User accounts, analytics, subscription mgmt</a:t>
            </a:r>
          </a:p>
        </p:txBody>
      </p:sp>
      <p:sp>
        <p:nvSpPr>
          <p:cNvPr id="23" name="TextBox 22"/>
          <p:cNvSpPr txBox="1"/>
          <p:nvPr/>
        </p:nvSpPr>
        <p:spPr>
          <a:xfrm>
            <a:off x="8686800" y="5440680"/>
            <a:ext cx="1828800" cy="365760"/>
          </a:xfrm>
          <a:prstGeom prst="rect">
            <a:avLst/>
          </a:prstGeom>
          <a:noFill/>
        </p:spPr>
        <p:txBody>
          <a:bodyPr wrap="square">
            <a:spAutoFit/>
          </a:bodyPr>
          <a:lstStyle/>
          <a:p>
            <a:pPr algn="ctr">
              <a:defRPr sz="1400" b="1">
                <a:solidFill>
                  <a:srgbClr val="D4B483"/>
                </a:solidFill>
                <a:latin typeface="Helvetica Neue"/>
              </a:defRPr>
            </a:pPr>
            <a:r>
              <a:t>Phase 2</a:t>
            </a:r>
          </a:p>
        </p:txBody>
      </p:sp>
      <p:sp>
        <p:nvSpPr>
          <p:cNvPr id="24" name="TextBox 23"/>
          <p:cNvSpPr txBox="1"/>
          <p:nvPr/>
        </p:nvSpPr>
        <p:spPr>
          <a:xfrm>
            <a:off x="914400" y="6217920"/>
            <a:ext cx="9601200" cy="457200"/>
          </a:xfrm>
          <a:prstGeom prst="rect">
            <a:avLst/>
          </a:prstGeom>
          <a:noFill/>
        </p:spPr>
        <p:txBody>
          <a:bodyPr wrap="square">
            <a:spAutoFit/>
          </a:bodyPr>
          <a:lstStyle/>
          <a:p>
            <a:pPr algn="l">
              <a:defRPr sz="1500" b="0">
                <a:solidFill>
                  <a:srgbClr val="6B666A"/>
                </a:solidFill>
                <a:latin typeface="Helvetica Neue"/>
              </a:defRPr>
            </a:pPr>
            <a:r>
              <a:t>Estimated seed funding needed: $50K–$75K (covers 12 months: design, sound, marketing, App Store fees)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6F2"/>
        </a:solidFill>
        <a:effectLst/>
      </p:bgPr>
    </p:bg>
    <p:spTree>
      <p:nvGrpSpPr>
        <p:cNvPr id="1" name=""/>
        <p:cNvGrpSpPr/>
        <p:nvPr/>
      </p:nvGrpSpPr>
      <p:grpSpPr/>
      <p:sp>
        <p:nvSpPr>
          <p:cNvPr id="2" name="Rectangle 1"/>
          <p:cNvSpPr/>
          <p:nvPr/>
        </p:nvSpPr>
        <p:spPr>
          <a:xfrm>
            <a:off x="4114800" y="1828800"/>
            <a:ext cx="3931920" cy="38100"/>
          </a:xfrm>
          <a:prstGeom prst="rect">
            <a:avLst/>
          </a:prstGeom>
          <a:solidFill>
            <a:srgbClr val="9B8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103120"/>
            <a:ext cx="10332720" cy="914400"/>
          </a:xfrm>
          <a:prstGeom prst="rect">
            <a:avLst/>
          </a:prstGeom>
          <a:noFill/>
        </p:spPr>
        <p:txBody>
          <a:bodyPr wrap="square">
            <a:spAutoFit/>
          </a:bodyPr>
          <a:lstStyle/>
          <a:p>
            <a:pPr algn="ctr">
              <a:defRPr sz="4000" b="1">
                <a:solidFill>
                  <a:srgbClr val="3A363B"/>
                </a:solidFill>
                <a:latin typeface="Helvetica Neue"/>
              </a:defRPr>
            </a:pPr>
            <a:r>
              <a:t>Let’s Build the Future</a:t>
            </a:r>
            <a:br/>
            <a:r>
              <a:t>of Sound-Based Wellness</a:t>
            </a:r>
          </a:p>
        </p:txBody>
      </p:sp>
      <p:sp>
        <p:nvSpPr>
          <p:cNvPr id="4" name="TextBox 3"/>
          <p:cNvSpPr txBox="1"/>
          <p:nvPr/>
        </p:nvSpPr>
        <p:spPr>
          <a:xfrm>
            <a:off x="1828800" y="3474720"/>
            <a:ext cx="8503920" cy="731520"/>
          </a:xfrm>
          <a:prstGeom prst="rect">
            <a:avLst/>
          </a:prstGeom>
          <a:noFill/>
        </p:spPr>
        <p:txBody>
          <a:bodyPr wrap="square">
            <a:spAutoFit/>
          </a:bodyPr>
          <a:lstStyle/>
          <a:p>
            <a:pPr algn="ctr">
              <a:defRPr sz="1800" b="0">
                <a:solidFill>
                  <a:srgbClr val="6B666A"/>
                </a:solidFill>
                <a:latin typeface="Helvetica Neue"/>
              </a:defRPr>
            </a:pPr>
            <a:r>
              <a:t>Resonance isn’t just an app — it’s a new paradigm for how technology</a:t>
            </a:r>
            <a:br/>
            <a:r>
              <a:t>can support emotional regulation through the universal language of music.</a:t>
            </a:r>
          </a:p>
        </p:txBody>
      </p:sp>
      <p:sp>
        <p:nvSpPr>
          <p:cNvPr id="5" name="Rounded Rectangle 4"/>
          <p:cNvSpPr/>
          <p:nvPr/>
        </p:nvSpPr>
        <p:spPr>
          <a:xfrm>
            <a:off x="3200400" y="4572000"/>
            <a:ext cx="5760720" cy="1371600"/>
          </a:xfrm>
          <a:prstGeom prst="roundRect">
            <a:avLst/>
          </a:prstGeom>
          <a:solidFill>
            <a:srgbClr val="EEEBE5"/>
          </a:solidFill>
          <a:ln w="12700">
            <a:solidFill>
              <a:srgbClr val="DEDA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0" y="4663440"/>
            <a:ext cx="5212080" cy="457200"/>
          </a:xfrm>
          <a:prstGeom prst="rect">
            <a:avLst/>
          </a:prstGeom>
          <a:noFill/>
        </p:spPr>
        <p:txBody>
          <a:bodyPr wrap="square">
            <a:spAutoFit/>
          </a:bodyPr>
          <a:lstStyle/>
          <a:p>
            <a:pPr algn="ctr">
              <a:defRPr sz="1800" b="1">
                <a:solidFill>
                  <a:srgbClr val="7EB5A6"/>
                </a:solidFill>
                <a:latin typeface="Helvetica Neue"/>
              </a:defRPr>
            </a:pPr>
            <a:r>
              <a:t>Next Steps</a:t>
            </a:r>
          </a:p>
        </p:txBody>
      </p:sp>
      <p:sp>
        <p:nvSpPr>
          <p:cNvPr id="7" name="TextBox 6"/>
          <p:cNvSpPr txBox="1"/>
          <p:nvPr/>
        </p:nvSpPr>
        <p:spPr>
          <a:xfrm>
            <a:off x="3840480" y="5029200"/>
            <a:ext cx="4572000" cy="914400"/>
          </a:xfrm>
          <a:prstGeom prst="rect">
            <a:avLst/>
          </a:prstGeom>
          <a:noFill/>
        </p:spPr>
        <p:txBody>
          <a:bodyPr wrap="square">
            <a:spAutoFit/>
          </a:bodyPr>
          <a:lstStyle/>
          <a:p>
            <a:pPr>
              <a:spcAft>
                <a:spcPts val="800"/>
              </a:spcAft>
            </a:pPr>
            <a:r>
              <a:rPr sz="1300">
                <a:solidFill>
                  <a:srgbClr val="7EB5A6"/>
                </a:solidFill>
                <a:latin typeface="Helvetica Neue"/>
              </a:rPr>
              <a:t>●  </a:t>
            </a:r>
            <a:r>
              <a:rPr sz="1500">
                <a:solidFill>
                  <a:srgbClr val="6B666A"/>
                </a:solidFill>
                <a:latin typeface="Helvetica Neue"/>
              </a:rPr>
              <a:t>Team review and feedback</a:t>
            </a:r>
          </a:p>
          <a:p>
            <a:pPr>
              <a:spcAft>
                <a:spcPts val="800"/>
              </a:spcAft>
            </a:pPr>
            <a:r>
              <a:rPr sz="1300">
                <a:solidFill>
                  <a:srgbClr val="7EB5A6"/>
                </a:solidFill>
                <a:latin typeface="Helvetica Neue"/>
              </a:rPr>
              <a:t>●  </a:t>
            </a:r>
            <a:r>
              <a:rPr sz="1500">
                <a:solidFill>
                  <a:srgbClr val="6B666A"/>
                </a:solidFill>
                <a:latin typeface="Helvetica Neue"/>
              </a:rPr>
              <a:t>Finalize feature scope per Academy guidelines</a:t>
            </a:r>
          </a:p>
          <a:p>
            <a:pPr>
              <a:spcAft>
                <a:spcPts val="800"/>
              </a:spcAft>
            </a:pPr>
            <a:r>
              <a:rPr sz="1300">
                <a:solidFill>
                  <a:srgbClr val="7EB5A6"/>
                </a:solidFill>
                <a:latin typeface="Helvetica Neue"/>
              </a:rPr>
              <a:t>●  </a:t>
            </a:r>
            <a:r>
              <a:rPr sz="1500">
                <a:solidFill>
                  <a:srgbClr val="6B666A"/>
                </a:solidFill>
                <a:latin typeface="Helvetica Neue"/>
              </a:rPr>
              <a:t>Begin user testing with cohort</a:t>
            </a:r>
          </a:p>
        </p:txBody>
      </p:sp>
      <p:sp>
        <p:nvSpPr>
          <p:cNvPr id="8" name="TextBox 7"/>
          <p:cNvSpPr txBox="1"/>
          <p:nvPr/>
        </p:nvSpPr>
        <p:spPr>
          <a:xfrm>
            <a:off x="914400" y="6217920"/>
            <a:ext cx="10332720" cy="365760"/>
          </a:xfrm>
          <a:prstGeom prst="rect">
            <a:avLst/>
          </a:prstGeom>
          <a:noFill/>
        </p:spPr>
        <p:txBody>
          <a:bodyPr wrap="square">
            <a:spAutoFit/>
          </a:bodyPr>
          <a:lstStyle/>
          <a:p>
            <a:pPr algn="ctr">
              <a:defRPr sz="1400" b="0">
                <a:solidFill>
                  <a:srgbClr val="9E9997"/>
                </a:solidFill>
                <a:latin typeface="Helvetica Neue"/>
              </a:defRPr>
            </a:pPr>
            <a:r>
              <a:t>Resonance  •  Rhonda Davis  •  Apple Developer Academy  •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