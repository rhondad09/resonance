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2286000" cy="38100"/>
          </a:xfrm>
          <a:prstGeom prst="rect">
            <a:avLst/>
          </a:prstGeom>
          <a:solidFill>
            <a:srgbClr val="9B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9B8BC4"/>
                </a:solidFill>
                <a:latin typeface="Helvetica Neue"/>
              </a:defRPr>
            </a:pPr>
            <a:r>
              <a:t>A Piece of Peace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7EB5A6"/>
                </a:solidFill>
                <a:latin typeface="Helvetica Neue"/>
              </a:defRPr>
            </a:pPr>
            <a:r>
              <a:t>A Sound-Based Wellness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666A"/>
                </a:solidFill>
                <a:latin typeface="Helvetica Neue"/>
              </a:defRPr>
            </a:pPr>
            <a:r>
              <a:t>Business &amp; Strategic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66A"/>
                </a:solidFill>
                <a:latin typeface="Helvetica Neue"/>
              </a:defRPr>
            </a:pPr>
            <a:r>
              <a:t>Presented by Rhonda Davis  •  Apple Developer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7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666A"/>
                </a:solidFill>
                <a:latin typeface="Helvetica Neue"/>
              </a:defRPr>
            </a:pPr>
            <a:r>
              <a:t>A Piece of Peace is a mobile wellness app that uses interactive, real-time sound as its primary therapeutic interface. Unlike conventional wellness apps that rely on journaling, tracking, or social features, A Piece of Peace puts users in direct relationship with music and sound to regulate their emotional and physiological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3017520" cy="256032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EB5A6"/>
                </a:solidFill>
                <a:latin typeface="Helvetica Neue"/>
              </a:defRPr>
            </a:pPr>
            <a: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49039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66A"/>
                </a:solidFill>
                <a:latin typeface="Helvetica Neue"/>
              </a:defRPr>
            </a:pPr>
            <a:r>
              <a:t>Make emotional regulation accessible through the universal language of sound.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200400"/>
            <a:ext cx="3017520" cy="256032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8BC4"/>
                </a:solidFill>
                <a:latin typeface="Helvetica Neue"/>
              </a:defRPr>
            </a:pPr>
            <a: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749039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66A"/>
                </a:solidFill>
                <a:latin typeface="Helvetica Neue"/>
              </a:defRPr>
            </a:pPr>
            <a:r>
              <a:t>A world where everyone has an intuitive, non-verbal tool for wellness — as natural as pressing 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200400"/>
            <a:ext cx="3017520" cy="256032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483"/>
                </a:solidFill>
                <a:latin typeface="Helvetica Neue"/>
              </a:defRPr>
            </a:pPr>
            <a:r>
              <a:t>Core Differentiator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39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66A"/>
                </a:solidFill>
                <a:latin typeface="Helvetica Neue"/>
              </a:defRPr>
            </a:pPr>
            <a:r>
              <a:t>Sound is generated in real-time, not pre-recorded. The app responds to the user's body, breath, and rhythm.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D4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700">
                <a:solidFill>
                  <a:srgbClr val="6B666A"/>
                </a:solidFill>
                <a:latin typeface="Helvetica Neue"/>
              </a:rPr>
              <a:t>76% of U.S. adults report stress-related health impacts (APA, 2023)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700">
                <a:solidFill>
                  <a:srgbClr val="6B666A"/>
                </a:solidFill>
                <a:latin typeface="Helvetica Neue"/>
              </a:rPr>
              <a:t>Most wellness apps rely on text-heavy interfaces — journaling, CBT worksheets, tracking dashboards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700">
                <a:solidFill>
                  <a:srgbClr val="6B666A"/>
                </a:solidFill>
                <a:latin typeface="Helvetica Neue"/>
              </a:rPr>
              <a:t>These approaches create cognitive load for people who are already overwhelmed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700">
                <a:solidFill>
                  <a:srgbClr val="6B666A"/>
                </a:solidFill>
                <a:latin typeface="Helvetica Neue"/>
              </a:rPr>
              <a:t>Music is proven to regulate heart rate, cortisol, and mood — but no app makes it interactive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700">
                <a:solidFill>
                  <a:srgbClr val="6B666A"/>
                </a:solidFill>
                <a:latin typeface="Helvetica Neue"/>
              </a:rPr>
              <a:t>Gen Z and millennials want sensory, immersive experiences — not more screen reading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7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A363B"/>
                </a:solidFill>
                <a:latin typeface="Helvetica Neue"/>
              </a:defRPr>
            </a:pPr>
            <a:r>
              <a:t>A Piece of Peace replaces passive content consumption with active sound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9601200" cy="82296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B5A6"/>
                </a:solidFill>
                <a:latin typeface="Helvetica Neue"/>
              </a:defRPr>
            </a:pPr>
            <a:r>
              <a:t>Guided Breathing + Live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880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66A"/>
                </a:solidFill>
                <a:latin typeface="Helvetica Neue"/>
              </a:defRPr>
            </a:pPr>
            <a:r>
              <a:t>Breathe in sync with ambient soundscapes generated in real-time at 432Hz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9601200" cy="82296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B5A6"/>
                </a:solidFill>
                <a:latin typeface="Helvetica Neue"/>
              </a:defRPr>
            </a:pPr>
            <a:r>
              <a:t>Mood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8862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66A"/>
                </a:solidFill>
                <a:latin typeface="Helvetica Neue"/>
              </a:defRPr>
            </a:pPr>
            <a:r>
              <a:t>Translate emotions into sound using sliders, colors, and words — the app finds your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9601200" cy="82296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B5A6"/>
                </a:solidFill>
                <a:latin typeface="Helvetica Neue"/>
              </a:defRPr>
            </a:pPr>
            <a:r>
              <a:t>Tap to Regulate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89204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66A"/>
                </a:solidFill>
                <a:latin typeface="Helvetica Neue"/>
              </a:defRPr>
            </a:pPr>
            <a:r>
              <a:t>Tap your natural rhythm — the app detects your BPM and shapes calming sound around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9601200" cy="82296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B5A6"/>
                </a:solidFill>
                <a:latin typeface="Helvetica Neue"/>
              </a:defRPr>
            </a:pPr>
            <a:r>
              <a:t>Hydration &amp; 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8978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66A"/>
                </a:solidFill>
                <a:latin typeface="Helvetica Neue"/>
              </a:defRPr>
            </a:pPr>
            <a:r>
              <a:t>Gentle stretch guidance and water reminders paired with adaptive music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9B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Target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2004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8BC4"/>
                </a:solidFill>
                <a:latin typeface="Helvetica Neue"/>
              </a:defRPr>
            </a:pPr>
            <a: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363B"/>
                </a:solidFill>
                <a:latin typeface="Helvetica Neue"/>
              </a:defRPr>
            </a:pPr>
            <a:r>
              <a:t>Ages 18–34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College students managing stress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Young professionals with anxiety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Music-oriented, sensory learners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Digital natives seeking non-verbal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00400" cy="32004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EB5A6"/>
                </a:solidFill>
                <a:latin typeface="Helvetica Neue"/>
              </a:defRPr>
            </a:pPr>
            <a:r>
              <a:t>Secondary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363B"/>
                </a:solidFill>
                <a:latin typeface="Helvetica Neue"/>
              </a:defRPr>
            </a:pPr>
            <a:r>
              <a:t>Ages 35–55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Wellness-conscious parents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Therapists recommending tools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Meditation practitioners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People with sensory processing needs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200400" cy="32004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483"/>
                </a:solidFill>
                <a:latin typeface="Helvetica Neue"/>
              </a:defRPr>
            </a:pPr>
            <a:r>
              <a:t>Niche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363B"/>
                </a:solidFill>
                <a:latin typeface="Helvetica Neue"/>
              </a:defRPr>
            </a:pPr>
            <a:r>
              <a:t>Specialized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Music therapy patients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ADHD / neurodivergent users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Trauma recovery support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Sleep and insomnia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D4B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1828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B483"/>
                </a:solidFill>
                <a:latin typeface="Helvetica Neue"/>
              </a:defRPr>
            </a:pPr>
            <a:r>
              <a:t>Global Wellness App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A363B"/>
                </a:solidFill>
                <a:latin typeface="Helvetica Neue"/>
              </a:defRPr>
            </a:pPr>
            <a:r>
              <a:t>$7.8B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by 2027 (CAGR 17.7%)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00400" cy="1828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B5A6"/>
                </a:solidFill>
                <a:latin typeface="Helvetica Neue"/>
              </a:defRPr>
            </a:pPr>
            <a:r>
              <a:t>Mental Health App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A363B"/>
                </a:solidFill>
                <a:latin typeface="Helvetica Neue"/>
              </a:defRPr>
            </a:pPr>
            <a:r>
              <a:t>$5.2B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by 2027 (CAGR 15.9%)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200400" cy="1828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8BC4"/>
                </a:solidFill>
                <a:latin typeface="Helvetica Neue"/>
              </a:defRPr>
            </a:pPr>
            <a:r>
              <a:t>Music Therapy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A363B"/>
                </a:solidFill>
                <a:latin typeface="Helvetica Neue"/>
              </a:defRPr>
            </a:pPr>
            <a:r>
              <a:t>$2.1B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by 2028 (CAGR 12.4%)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500">
                <a:solidFill>
                  <a:srgbClr val="6B666A"/>
                </a:solidFill>
                <a:latin typeface="Helvetica Neue"/>
              </a:rPr>
              <a:t>Post-pandemic mental health awareness driving sustained demand for accessible tools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500">
                <a:solidFill>
                  <a:srgbClr val="6B666A"/>
                </a:solidFill>
                <a:latin typeface="Helvetica Neue"/>
              </a:rPr>
              <a:t>Gen Z preference for sensory/interactive experiences over text-based interfaces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500">
                <a:solidFill>
                  <a:srgbClr val="6B666A"/>
                </a:solidFill>
                <a:latin typeface="Helvetica Neue"/>
              </a:rPr>
              <a:t>Apple Health and wellness ecosystem integration creating distribution opportunities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500">
                <a:solidFill>
                  <a:srgbClr val="6B666A"/>
                </a:solidFill>
                <a:latin typeface="Helvetica Neue"/>
              </a:rPr>
              <a:t>Growing clinical evidence supporting music therapy and sound-based interventions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7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Product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77440" cy="36576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B8BC4"/>
                </a:solidFill>
                <a:latin typeface="Helvetica Neue"/>
              </a:defRPr>
            </a:pPr>
            <a:r>
              <a:t>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363B"/>
                </a:solidFill>
                <a:latin typeface="Helvetica Neue"/>
              </a:defRPr>
            </a:pPr>
            <a: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Time-aware greeting, wellness overview, now playing, daily quote from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377440" cy="36576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7EB5A6"/>
                </a:solidFill>
                <a:latin typeface="Helvetica Neue"/>
              </a:defRPr>
            </a:pPr>
            <a:r>
              <a:t>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363B"/>
                </a:solidFill>
                <a:latin typeface="Helvetica Neue"/>
              </a:defRPr>
            </a:pPr>
            <a:r>
              <a:t>Wellness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29184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Guided breathing with live audio synthesis, stretch routines, hydration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377440" cy="36576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4B483"/>
                </a:solidFill>
                <a:latin typeface="Helvetica Neue"/>
              </a:defRPr>
            </a:pPr>
            <a:r>
              <a:t>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363B"/>
                </a:solidFill>
                <a:latin typeface="Helvetica Neue"/>
              </a:defRPr>
            </a:pPr>
            <a:r>
              <a:t>Music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Mood mapping with sliders + color + words, tap-to-regulate with BPM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011680"/>
            <a:ext cx="2377440" cy="36576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48B9A"/>
                </a:solidFill>
                <a:latin typeface="Helvetica Neue"/>
              </a:defRPr>
            </a:pPr>
            <a: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363B"/>
                </a:solidFill>
                <a:latin typeface="Helvetica Neue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329184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Community features, friend check-ins, shared experiences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89A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AFC8"/>
                </a:solidFill>
                <a:latin typeface="Helvetica Neue"/>
              </a:defRPr>
            </a:pPr>
            <a:r>
              <a:t>SwiftUI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Declarative UI framework — reactive state management with @Observable, @State, and @Bindable for real-time UI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AFC8"/>
                </a:solidFill>
                <a:latin typeface="Helvetica Neue"/>
              </a:defRPr>
            </a:pPr>
            <a:r>
              <a:t>AVAudioEngine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606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Core Audio framework for real-time sound synthesis — generates ambient tones, binaural beats, and bell chimes from raw sine waves on the audio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AFC8"/>
                </a:solidFill>
                <a:latin typeface="Helvetica Neue"/>
              </a:defRPr>
            </a:pPr>
            <a:r>
              <a:t>Structured Concurrency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83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Swift async/await for breathing timers, API calls, and task cancellation — no memory leaks or orphaned processes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AFC8"/>
                </a:solidFill>
                <a:latin typeface="Helvetica Neue"/>
              </a:defRPr>
            </a:pPr>
            <a:r>
              <a:t>Custom Layout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160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FlowLayout for responsive word-tag wrapping, similar to CSS flexbox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AFC8"/>
                </a:solidFill>
                <a:latin typeface="Helvetica Neue"/>
              </a:defRPr>
            </a:pPr>
            <a:r>
              <a:t>REST API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937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Live daily quotes from ZenQuotes API with graceful fallback on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AFC8"/>
                </a:solidFill>
                <a:latin typeface="Helvetica Neue"/>
              </a:defRPr>
            </a:pPr>
            <a:r>
              <a:t>Audio-Thread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715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Lock-free render state pattern using @unchecked Sendable for real-time audio without blocking the main thread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9B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66A"/>
                </a:solidFill>
                <a:latin typeface="Helvetica Neue"/>
              </a:defRPr>
            </a:pPr>
            <a:r>
              <a:t>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66A"/>
                </a:solidFill>
                <a:latin typeface="Helvetica Neue"/>
              </a:defRPr>
            </a:pPr>
            <a:r>
              <a:t>Calm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66A"/>
                </a:solidFill>
                <a:latin typeface="Helvetica Neue"/>
              </a:defRPr>
            </a:pPr>
            <a:r>
              <a:t>Headspace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66A"/>
                </a:solidFill>
                <a:latin typeface="Helvetica Neue"/>
              </a:defRPr>
            </a:pPr>
            <a:r>
              <a:t>Endel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B483"/>
                </a:solidFill>
                <a:latin typeface="Helvetica Neue"/>
              </a:defRPr>
            </a:pPr>
            <a:r>
              <a:t>A Piece of Peace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9235440" cy="438912"/>
          </a:xfrm>
          <a:prstGeom prst="roundRect">
            <a:avLst/>
          </a:prstGeom>
          <a:solidFill>
            <a:srgbClr val="F2EFE9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Real-time audio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14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14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EB58E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71800"/>
            <a:ext cx="9235440" cy="438912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Breath-synced sound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17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017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474720"/>
            <a:ext cx="9235440" cy="438912"/>
          </a:xfrm>
          <a:prstGeom prst="roundRect">
            <a:avLst/>
          </a:prstGeom>
          <a:solidFill>
            <a:srgbClr val="F2EFE9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520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Tap rhythm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20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520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977640"/>
            <a:ext cx="9235440" cy="438912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023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Mood-to-music 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0233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0233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233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0233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480560"/>
            <a:ext cx="9235440" cy="438912"/>
          </a:xfrm>
          <a:prstGeom prst="roundRect">
            <a:avLst/>
          </a:prstGeom>
          <a:solidFill>
            <a:srgbClr val="F2EFE9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526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No subscription required*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526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526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26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526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983480"/>
            <a:ext cx="9235440" cy="438912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029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Binaural beat generation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029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029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29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EB58E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029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486400"/>
            <a:ext cx="9235440" cy="438912"/>
          </a:xfrm>
          <a:prstGeom prst="roundRect">
            <a:avLst/>
          </a:prstGeom>
          <a:solidFill>
            <a:srgbClr val="F2EFE9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5532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Interactive (not passive)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997"/>
                </a:solidFill>
                <a:latin typeface="Helvetica Neue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83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9997"/>
                </a:solidFill>
                <a:latin typeface="Helvetica Neue"/>
              </a:defRPr>
            </a:pPr>
            <a:r>
              <a:t>✓ = Full support   ○ = Partial   ✗ = Not available   *Launch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D4B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47472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B58E"/>
                </a:solidFill>
                <a:latin typeface="Helvetica Neue"/>
              </a:defRPr>
            </a:pPr>
            <a:r>
              <a:t>Free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A363B"/>
                </a:solidFill>
                <a:latin typeface="Helvetica Neue"/>
              </a:defRPr>
            </a:pPr>
            <a: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7EB58E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Guided breathing (1 mode)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7EB58E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Mood mapping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7EB58E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Tap to regulate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7EB58E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Daily quote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7EB58E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Basic stretch routine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00400" cy="347472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8BC4"/>
                </a:solidFill>
                <a:latin typeface="Helvetica Neue"/>
              </a:defRPr>
            </a:pPr>
            <a:r>
              <a:t>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A363B"/>
                </a:solidFill>
                <a:latin typeface="Helvetica Neue"/>
              </a:defRPr>
            </a:pPr>
            <a:r>
              <a:t>$4.99/mo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All 3 breathing soundscapes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Binaural beat modes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Extended stretch library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Personalized mood history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Offline sound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200400" cy="347472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B483"/>
                </a:solidFill>
                <a:latin typeface="Helvetica Neue"/>
              </a:defRPr>
            </a:pPr>
            <a:r>
              <a:t>Annual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A363B"/>
                </a:solidFill>
                <a:latin typeface="Helvetica Neue"/>
              </a:defRPr>
            </a:pPr>
            <a:r>
              <a:t>$39.99/yr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Everything in Premium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Priority new features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Family sharing (up to 5)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Custom soundscape builder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Save 33% vs monthly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Additional revenue: B2B licensing for therapy practices, corporate wellness programs, and educational institutions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7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Go-to-Market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108960" cy="4114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B5A6"/>
                </a:solidFill>
                <a:latin typeface="Helvetica Neue"/>
              </a:defRPr>
            </a:pPr>
            <a:r>
              <a:t>Phase 1: Soft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Months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Launch on iOS App Store (free tier)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Target university wellness centers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Apple Developer Academy network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Beta testing with 200–500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108960" cy="4114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8BC4"/>
                </a:solidFill>
                <a:latin typeface="Helvetica Neue"/>
              </a:defRPr>
            </a:pPr>
            <a:r>
              <a:t>Phase 2: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Months 4–9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Introduce Premium subscription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Influencer partnerships (wellness/music)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App Store Optimization (ASO)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Content marketing: sound + science blog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3108960" cy="4114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B483"/>
                </a:solidFill>
                <a:latin typeface="Helvetica Neue"/>
              </a:defRPr>
            </a:pPr>
            <a:r>
              <a:t>Phase 3: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Months 10–18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B2B partnerships (therapists, corporates)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Android expansion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Apple Watch companion app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400">
                <a:solidFill>
                  <a:srgbClr val="6B666A"/>
                </a:solidFill>
                <a:latin typeface="Helvetica Neue"/>
              </a:rPr>
              <a:t>International localization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D4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Marketing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8B9A"/>
                </a:solidFill>
                <a:latin typeface="Helvetica Neue"/>
              </a:defRPr>
            </a:pPr>
            <a:r>
              <a:t>🎵 Content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"The Science of Sound" blog series, YouTube demos of real-time sound generation, podcast guest appearances on wellness and music production shows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8B9A"/>
                </a:solidFill>
                <a:latin typeface="Helvetica Neue"/>
              </a:defRPr>
            </a:pPr>
            <a:r>
              <a:t>📱 Social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Short-form video (TikTok/Reels) showing mood-to-music transformation, ASMR-style breathing demos, behind-the-scenes of audio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97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8B9A"/>
                </a:solidFill>
                <a:latin typeface="Helvetica Neue"/>
              </a:defRPr>
            </a:pPr>
            <a:r>
              <a:t>🏫 Institutional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634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University wellness centers, therapy practices, corporate wellness programs. Offer free pilot programs with usage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9496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8B9A"/>
                </a:solidFill>
                <a:latin typeface="Helvetica Neue"/>
              </a:defRPr>
            </a:pPr>
            <a:r>
              <a:t>🍎 Apple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521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Target Apple Today tab features, leverage Developer Academy network, pursue Apple Design Award recognition for innovative use of AVAudioEngine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D4B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Financial 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108960" cy="32004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B483"/>
                </a:solidFill>
                <a:latin typeface="Helvetica Neue"/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Total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A363B"/>
                </a:solidFill>
                <a:latin typeface="Helvetica Neue"/>
              </a:defRPr>
            </a:pPr>
            <a:r>
              <a:t>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Premium 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EB5A6"/>
                </a:solidFill>
                <a:latin typeface="Helvetica Neue"/>
              </a:defRPr>
            </a:pPr>
            <a: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B483"/>
                </a:solidFill>
                <a:latin typeface="Helvetica Neue"/>
              </a:defRPr>
            </a:pPr>
            <a:r>
              <a:t>Projected ARR: $25K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Focus: Build &amp; validate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108960" cy="32004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B483"/>
                </a:solidFill>
                <a:latin typeface="Helvetica Neue"/>
              </a:defRPr>
            </a:pPr>
            <a: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Total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A363B"/>
                </a:solidFill>
                <a:latin typeface="Helvetica Neue"/>
              </a:defRPr>
            </a:pPr>
            <a:r>
              <a:t>25,000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Premium Subscribers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EB5A6"/>
                </a:solidFill>
                <a:latin typeface="Helvetica Neue"/>
              </a:defRPr>
            </a:pPr>
            <a:r>
              <a:t>3,750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B483"/>
                </a:solidFill>
                <a:latin typeface="Helvetica Neue"/>
              </a:defRPr>
            </a:pPr>
            <a:r>
              <a:t>Projected ARR: $180K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Focus: Growth &amp; retention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011680"/>
            <a:ext cx="3108960" cy="32004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B483"/>
                </a:solidFill>
                <a:latin typeface="Helvetica Neue"/>
              </a:defRPr>
            </a:pPr>
            <a:r>
              <a:t>Year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Total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A363B"/>
                </a:solidFill>
                <a:latin typeface="Helvetica Neue"/>
              </a:defRPr>
            </a:pPr>
            <a:r>
              <a:t>100,000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Premium Subscribers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EB5A6"/>
                </a:solidFill>
                <a:latin typeface="Helvetica Neue"/>
              </a:defRPr>
            </a:pPr>
            <a:r>
              <a:t>20,000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B483"/>
                </a:solidFill>
                <a:latin typeface="Helvetica Neue"/>
              </a:defRPr>
            </a:pPr>
            <a:r>
              <a:t>Projected ARR: $960K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66A"/>
                </a:solidFill>
                <a:latin typeface="Helvetica Neue"/>
              </a:defRPr>
            </a:pPr>
            <a:r>
              <a:t>Focus: Scale &amp;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9E9997"/>
                </a:solidFill>
                <a:latin typeface="Helvetica Neue"/>
              </a:rPr>
              <a:t>Assumes 10% free-to-premium conversion (industry avg: 5–12%)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9E9997"/>
                </a:solidFill>
                <a:latin typeface="Helvetica Neue"/>
              </a:rPr>
              <a:t>Premium ARPU of $48/year (blended monthly + annual)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9E9997"/>
                </a:solidFill>
                <a:latin typeface="Helvetica Neue"/>
              </a:rPr>
              <a:t>B2B revenue not included in Year 1–2 projections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9E9997"/>
                </a:solidFill>
                <a:latin typeface="Helvetica Neue"/>
              </a:rPr>
              <a:t>CAC target: &lt;$3.00 through organic and partnership channels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9B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Development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77440" cy="4114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EB5A6"/>
                </a:solidFill>
                <a:latin typeface="Helvetica Neue"/>
              </a:defRPr>
            </a:pPr>
            <a:r>
              <a:t>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A363B"/>
                </a:solidFill>
                <a:latin typeface="Helvetica Neue"/>
              </a:defRPr>
            </a:pPr>
            <a:r>
              <a:t>MVP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Core 4-screen app on App Store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3 breathing soundscapes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Mood mapping + tap-to-regulate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Daily quote API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377440" cy="4114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B8BC4"/>
                </a:solidFill>
                <a:latin typeface="Helvetica Neue"/>
              </a:defRPr>
            </a:pPr>
            <a: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A363B"/>
                </a:solidFill>
                <a:latin typeface="Helvetica Neue"/>
              </a:defRPr>
            </a:pPr>
            <a:r>
              <a:t>Premium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Subscription with StoreKit 2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Expanded sound library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Offline audio generation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B8BC4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Usage analytics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377440" cy="4114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B483"/>
                </a:solidFill>
                <a:latin typeface="Helvetica Neue"/>
              </a:defRPr>
            </a:pPr>
            <a: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A363B"/>
                </a:solidFill>
                <a:latin typeface="Helvetica Neue"/>
              </a:defRPr>
            </a:pPr>
            <a:r>
              <a:t>Platform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Apple Watch haptic breathing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HealthKit integration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Siri Shortcuts support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B483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Widget for Home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011680"/>
            <a:ext cx="2377440" cy="4114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8B9A"/>
                </a:solidFill>
                <a:latin typeface="Helvetica Neue"/>
              </a:defRPr>
            </a:pPr>
            <a: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A363B"/>
                </a:solidFill>
                <a:latin typeface="Helvetica Neue"/>
              </a:defRPr>
            </a:pPr>
            <a:r>
              <a:t>Scale &amp;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30175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Android version (Kotlin)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B2B dashboard for therapists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API for third-party integration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48B9A"/>
                </a:solidFill>
                <a:latin typeface="Helvetica Neue"/>
              </a:rPr>
              <a:t>●  </a:t>
            </a:r>
            <a:r>
              <a:rPr sz="1300">
                <a:solidFill>
                  <a:srgbClr val="6B666A"/>
                </a:solidFill>
                <a:latin typeface="Helvetica Neue"/>
              </a:rPr>
              <a:t>AI-driven mood prediction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D4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Risk Analysis &amp;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9A"/>
                </a:solidFill>
                <a:latin typeface="Helvetica Neue"/>
              </a:defRPr>
            </a:pPr>
            <a:r>
              <a:t>Market Saturation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Crowded wellness app space with established players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B5A6"/>
                </a:solidFill>
                <a:latin typeface="Helvetica Neue"/>
              </a:defRPr>
            </a:pPr>
            <a:r>
              <a:t>Mitigation: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945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Differentiate through interactive sound (no competitor offers real-time synthesis + rhythm detection)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9A"/>
                </a:solidFill>
                <a:latin typeface="Helvetica Neue"/>
              </a:defRPr>
            </a:pPr>
            <a:r>
              <a:t>User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Wellness apps average 4% 30-day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63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B5A6"/>
                </a:solidFill>
                <a:latin typeface="Helvetica Neue"/>
              </a:defRPr>
            </a:pPr>
            <a:r>
              <a:t>Mitigation: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38327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Sound is inherently repeatable; adaptive audio creates unique sessions each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9A"/>
                </a:solidFill>
                <a:latin typeface="Helvetica Neue"/>
              </a:defRPr>
            </a:pPr>
            <a:r>
              <a:t>Technical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Real-time audio on mobile requires careful performance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2519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B5A6"/>
                </a:solidFill>
                <a:latin typeface="Helvetica Neue"/>
              </a:defRPr>
            </a:pPr>
            <a:r>
              <a:t>Mitigation: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AVAudioEngine is Apple's native framework; audio-thread architecture already proven in v1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94960"/>
            <a:ext cx="9601200" cy="100584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9A"/>
                </a:solidFill>
                <a:latin typeface="Helvetica Neue"/>
              </a:defRPr>
            </a:pPr>
            <a:r>
              <a:t>Monetization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Users resistant to wellness app subscriptions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B5A6"/>
                </a:solidFill>
                <a:latin typeface="Helvetica Neue"/>
              </a:defRPr>
            </a:pPr>
            <a:r>
              <a:t>Mitigation: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7607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66A"/>
                </a:solidFill>
                <a:latin typeface="Helvetica Neue"/>
              </a:defRPr>
            </a:pPr>
            <a:r>
              <a:t>Generous free tier builds habit; premium unlocks depth, not access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7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9601200" cy="64008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DAU / MAU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9AFC8"/>
                </a:solidFill>
                <a:latin typeface="Helvetica Neue"/>
              </a:defRPr>
            </a:pPr>
            <a:r>
              <a:t>&gt;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Measures daily engagement stickiness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9601200" cy="64008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Session 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EB5A6"/>
                </a:solidFill>
                <a:latin typeface="Helvetica Neue"/>
              </a:defRPr>
            </a:pPr>
            <a:r>
              <a:t>&gt; 4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Breathing session = 4–8 min; indicates full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9601200" cy="64008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Free →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6118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B8BC4"/>
                </a:solidFill>
                <a:latin typeface="Helvetica Neue"/>
              </a:defRPr>
            </a:pPr>
            <a:r>
              <a:t>&gt; 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611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Conversion rate from free to paid 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9601200" cy="64008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30-Day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B483"/>
                </a:solidFill>
                <a:latin typeface="Helvetica Neue"/>
              </a:defRPr>
            </a:pPr>
            <a:r>
              <a:t>&gt; 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Industry avg is 4%; sound-based habit is stickier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9601200" cy="64008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NPS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66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EB58E"/>
                </a:solidFill>
                <a:latin typeface="Helvetica Neue"/>
              </a:defRPr>
            </a:pPr>
            <a:r>
              <a:t>&gt;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Net Promoter Score from in-app surveys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06440"/>
            <a:ext cx="9601200" cy="64008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Audio Sessions / User /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8B9A"/>
                </a:solidFill>
                <a:latin typeface="Helvetica Neue"/>
              </a:defRPr>
            </a:pPr>
            <a:r>
              <a:t>&gt;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Core engagement metric — are users coming back to sound?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8100"/>
          </a:xfrm>
          <a:prstGeom prst="rect">
            <a:avLst/>
          </a:prstGeom>
          <a:solidFill>
            <a:srgbClr val="9B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A363B"/>
                </a:solidFill>
                <a:latin typeface="Helvetica Neue"/>
              </a:defRPr>
            </a:pPr>
            <a:r>
              <a:t>Team &amp;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9601200" cy="685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iOS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SwiftUI + AVAudioEngine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EB58E"/>
                </a:solidFill>
                <a:latin typeface="Helvetica Neue"/>
              </a:defRPr>
            </a:pPr>
            <a:r>
              <a:t>In 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9601200" cy="685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UX/UI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Accessibility, dark-mode-first design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8B9A"/>
                </a:solidFill>
                <a:latin typeface="Helvetica Neue"/>
              </a:defRPr>
            </a:pPr>
            <a:r>
              <a:t>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9601200" cy="685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Sound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Ambient soundscape creation, frequency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8B9A"/>
                </a:solidFill>
                <a:latin typeface="Helvetica Neue"/>
              </a:defRPr>
            </a:pPr>
            <a:r>
              <a:t>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9601200" cy="685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Marketing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App Store, social media, partnerships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8B9A"/>
                </a:solidFill>
                <a:latin typeface="Helvetica Neue"/>
              </a:defRPr>
            </a:pPr>
            <a:r>
              <a:t>Needed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9601200" cy="6858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63B"/>
                </a:solidFill>
                <a:latin typeface="Helvetica Neue"/>
              </a:defRPr>
            </a:pPr>
            <a:r>
              <a:t>Backend 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66A"/>
                </a:solidFill>
                <a:latin typeface="Helvetica Neue"/>
              </a:defRPr>
            </a:pPr>
            <a:r>
              <a:t>User accounts, analytics, subscription mgmt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B483"/>
                </a:solidFill>
                <a:latin typeface="Helvetica Neue"/>
              </a:defRPr>
            </a:pPr>
            <a: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66A"/>
                </a:solidFill>
                <a:latin typeface="Helvetica Neue"/>
              </a:defRPr>
            </a:pPr>
            <a:r>
              <a:t>Estimated seed funding needed: $50K–$75K (covers 12 months: design, sound, marketing, App Store fees)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828800"/>
            <a:ext cx="3931920" cy="38100"/>
          </a:xfrm>
          <a:prstGeom prst="rect">
            <a:avLst/>
          </a:prstGeom>
          <a:solidFill>
            <a:srgbClr val="9B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A363B"/>
                </a:solidFill>
                <a:latin typeface="Helvetica Neue"/>
              </a:defRPr>
            </a:pPr>
            <a:r>
              <a:t>Let’s Build the Future</a:t>
            </a:r>
            <a:br/>
            <a:r>
              <a:t>of Sound-Based Wellness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66A"/>
                </a:solidFill>
                <a:latin typeface="Helvetica Neue"/>
              </a:defRPr>
            </a:pPr>
            <a:r>
              <a:t>A Piece of Peace isn’t just an app — it’s a new paradigm for how technology</a:t>
            </a:r>
            <a:br/>
            <a:r>
              <a:t>can support emotional regulation through the universal language of music.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572000"/>
            <a:ext cx="5760720" cy="1371600"/>
          </a:xfrm>
          <a:prstGeom prst="roundRect">
            <a:avLst/>
          </a:prstGeom>
          <a:solidFill>
            <a:srgbClr val="EEEBE5"/>
          </a:solidFill>
          <a:ln w="12700">
            <a:solidFill>
              <a:srgbClr val="DE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EB5A6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500">
                <a:solidFill>
                  <a:srgbClr val="6B666A"/>
                </a:solidFill>
                <a:latin typeface="Helvetica Neue"/>
              </a:rPr>
              <a:t>Team review and feedback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500">
                <a:solidFill>
                  <a:srgbClr val="6B666A"/>
                </a:solidFill>
                <a:latin typeface="Helvetica Neue"/>
              </a:rPr>
              <a:t>Finalize feature scope per Academy guidelines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EB5A6"/>
                </a:solidFill>
                <a:latin typeface="Helvetica Neue"/>
              </a:rPr>
              <a:t>●  </a:t>
            </a:r>
            <a:r>
              <a:rPr sz="1500">
                <a:solidFill>
                  <a:srgbClr val="6B666A"/>
                </a:solidFill>
                <a:latin typeface="Helvetica Neue"/>
              </a:rPr>
              <a:t>Begin user testing with cohort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997"/>
                </a:solidFill>
                <a:latin typeface="Helvetica Neue"/>
              </a:defRPr>
            </a:pPr>
            <a:r>
              <a:t>A Piece of Peace  •  Rhonda Davis  •  Apple Developer Academy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